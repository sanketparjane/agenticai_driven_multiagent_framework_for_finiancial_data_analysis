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7"/>
  </p:notesMasterIdLst>
  <p:sldIdLst>
    <p:sldId id="256" r:id="rId2"/>
    <p:sldId id="327" r:id="rId3"/>
    <p:sldId id="258" r:id="rId4"/>
    <p:sldId id="325" r:id="rId5"/>
    <p:sldId id="318" r:id="rId6"/>
    <p:sldId id="321" r:id="rId7"/>
    <p:sldId id="328" r:id="rId8"/>
    <p:sldId id="317" r:id="rId9"/>
    <p:sldId id="319" r:id="rId10"/>
    <p:sldId id="320" r:id="rId11"/>
    <p:sldId id="332" r:id="rId12"/>
    <p:sldId id="340" r:id="rId13"/>
    <p:sldId id="330" r:id="rId14"/>
    <p:sldId id="333" r:id="rId15"/>
    <p:sldId id="334" r:id="rId16"/>
    <p:sldId id="335" r:id="rId17"/>
    <p:sldId id="338" r:id="rId18"/>
    <p:sldId id="331" r:id="rId19"/>
    <p:sldId id="337" r:id="rId20"/>
    <p:sldId id="341" r:id="rId21"/>
    <p:sldId id="339" r:id="rId22"/>
    <p:sldId id="324" r:id="rId23"/>
    <p:sldId id="323" r:id="rId24"/>
    <p:sldId id="336" r:id="rId25"/>
    <p:sldId id="31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bPs2ua3IbHnKttopdg1EAdtKG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4" d="100"/>
          <a:sy n="84" d="100"/>
        </p:scale>
        <p:origin x="49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89978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6DD4FB88-D9AA-A60F-1188-CF75CBAA3E13}"/>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A3B9B7DF-B2B8-0660-BC04-C113E89EFE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12D4C118-C8BA-10F4-14E5-34F9347FE5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6069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85852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71499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9209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1787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40774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10850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8949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04390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9630349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68444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51938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29643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arxiv.org/abs/2011.09607" TargetMode="External"/><Relationship Id="rId2" Type="http://schemas.openxmlformats.org/officeDocument/2006/relationships/hyperlink" Target="https://arxiv.org/abs/2306.06031" TargetMode="External"/><Relationship Id="rId1" Type="http://schemas.openxmlformats.org/officeDocument/2006/relationships/slideLayout" Target="../slideLayouts/slideLayout7.xml"/><Relationship Id="rId5" Type="http://schemas.openxmlformats.org/officeDocument/2006/relationships/slide" Target="slide24.xml"/><Relationship Id="rId4" Type="http://schemas.openxmlformats.org/officeDocument/2006/relationships/hyperlink" Target="https://arxiv.org/abs/2311.1072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title"/>
          </p:nvPr>
        </p:nvSpPr>
        <p:spPr>
          <a:xfrm>
            <a:off x="581192" y="684626"/>
            <a:ext cx="11029616" cy="1013800"/>
          </a:xfrm>
          <a:prstGeom prst="rect">
            <a:avLst/>
          </a:prstGeom>
          <a:noFill/>
          <a:ln>
            <a:noFill/>
          </a:ln>
        </p:spPr>
        <p:txBody>
          <a:bodyPr spcFirstLastPara="1" wrap="square" lIns="91425" tIns="45700" rIns="91425" bIns="45700" anchor="b" anchorCtr="0">
            <a:noAutofit/>
          </a:bodyPr>
          <a:lstStyle/>
          <a:p>
            <a:pPr lvl="0" algn="ctr">
              <a:spcBef>
                <a:spcPts val="0"/>
              </a:spcBef>
              <a:buClr>
                <a:schemeClr val="lt1"/>
              </a:buClr>
              <a:buSzPts val="4800"/>
            </a:pPr>
            <a:r>
              <a:rPr lang="en-US" sz="3200" dirty="0">
                <a:latin typeface="Times New Roman"/>
                <a:ea typeface="Times New Roman"/>
                <a:cs typeface="Times New Roman"/>
                <a:sym typeface="Times New Roman"/>
              </a:rPr>
              <a:t>Agentic AI-Driven Multi-Agent Framework for Financial Data Analysis</a:t>
            </a:r>
            <a:endParaRPr sz="3200" dirty="0">
              <a:latin typeface="Times New Roman"/>
              <a:ea typeface="Times New Roman"/>
              <a:cs typeface="Times New Roman"/>
              <a:sym typeface="Times New Roman"/>
            </a:endParaRPr>
          </a:p>
        </p:txBody>
      </p:sp>
      <p:sp>
        <p:nvSpPr>
          <p:cNvPr id="101" name="Google Shape;101;p1"/>
          <p:cNvSpPr txBox="1"/>
          <p:nvPr/>
        </p:nvSpPr>
        <p:spPr>
          <a:xfrm>
            <a:off x="7272470" y="4638852"/>
            <a:ext cx="44740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Name of Subject: MINI PROJECT</a:t>
            </a:r>
            <a:endParaRPr sz="1800" b="0" i="0" u="none" strike="noStrike" cap="none" dirty="0">
              <a:solidFill>
                <a:srgbClr val="000000"/>
              </a:solidFill>
              <a:latin typeface="Gill Sans"/>
              <a:ea typeface="Gill Sans"/>
              <a:cs typeface="Gill Sans"/>
              <a:sym typeface="Gill Sans"/>
            </a:endParaRPr>
          </a:p>
        </p:txBody>
      </p:sp>
      <p:sp>
        <p:nvSpPr>
          <p:cNvPr id="102" name="Google Shape;102;p1"/>
          <p:cNvSpPr txBox="1"/>
          <p:nvPr/>
        </p:nvSpPr>
        <p:spPr>
          <a:xfrm>
            <a:off x="581192" y="4638852"/>
            <a:ext cx="3537881"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Presented By </a:t>
            </a:r>
            <a:br>
              <a:rPr lang="en-US" sz="1800" b="1" i="0" u="none" strike="noStrike" cap="none" dirty="0">
                <a:solidFill>
                  <a:srgbClr val="000000"/>
                </a:solidFill>
                <a:latin typeface="Times New Roman"/>
                <a:ea typeface="Times New Roman"/>
                <a:cs typeface="Times New Roman"/>
                <a:sym typeface="Times New Roman"/>
              </a:rPr>
            </a:br>
            <a:r>
              <a:rPr lang="en-US" sz="1800" b="1" i="0" u="none" strike="noStrike" cap="none" dirty="0">
                <a:solidFill>
                  <a:srgbClr val="000000"/>
                </a:solidFill>
                <a:latin typeface="Times New Roman"/>
                <a:ea typeface="Times New Roman"/>
                <a:cs typeface="Times New Roman"/>
                <a:sym typeface="Times New Roman"/>
              </a:rPr>
              <a:t>TY AIML SEM II</a:t>
            </a:r>
            <a:endParaRPr dirty="0"/>
          </a:p>
          <a:p>
            <a:pPr marL="0" marR="0" lvl="0" indent="0" algn="l" rtl="0">
              <a:spcBef>
                <a:spcPts val="0"/>
              </a:spcBef>
              <a:spcAft>
                <a:spcPts val="0"/>
              </a:spcAft>
              <a:buNone/>
            </a:pPr>
            <a:r>
              <a:rPr lang="en-US" dirty="0" err="1">
                <a:solidFill>
                  <a:srgbClr val="000000"/>
                </a:solidFill>
                <a:latin typeface="Times New Roman"/>
                <a:ea typeface="Times New Roman"/>
                <a:cs typeface="Times New Roman"/>
                <a:sym typeface="Times New Roman"/>
              </a:rPr>
              <a:t>Sanket</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Parjane</a:t>
            </a:r>
            <a:r>
              <a:rPr lang="en-US" dirty="0">
                <a:solidFill>
                  <a:srgbClr val="000000"/>
                </a:solidFill>
                <a:latin typeface="Times New Roman"/>
                <a:ea typeface="Times New Roman"/>
                <a:cs typeface="Times New Roman"/>
                <a:sym typeface="Times New Roman"/>
              </a:rPr>
              <a:t>  </a:t>
            </a:r>
            <a:r>
              <a:rPr lang="en-US" sz="1800" i="0" u="none" strike="noStrike" cap="none" dirty="0">
                <a:solidFill>
                  <a:srgbClr val="000000"/>
                </a:solidFill>
                <a:latin typeface="Times New Roman"/>
                <a:ea typeface="Times New Roman"/>
                <a:cs typeface="Times New Roman"/>
                <a:sym typeface="Times New Roman"/>
              </a:rPr>
              <a:t>2124UMLM2044</a:t>
            </a:r>
            <a:endParaRPr dirty="0"/>
          </a:p>
          <a:p>
            <a:pPr marL="0" marR="0" lvl="0" indent="0" algn="l" rtl="0">
              <a:spcBef>
                <a:spcPts val="0"/>
              </a:spcBef>
              <a:spcAft>
                <a:spcPts val="0"/>
              </a:spcAft>
              <a:buNone/>
            </a:pPr>
            <a:r>
              <a:rPr lang="en-US" dirty="0" err="1">
                <a:solidFill>
                  <a:srgbClr val="000000"/>
                </a:solidFill>
                <a:latin typeface="Times New Roman"/>
                <a:cs typeface="Times New Roman"/>
                <a:sym typeface="Times New Roman"/>
              </a:rPr>
              <a:t>Soham</a:t>
            </a:r>
            <a:r>
              <a:rPr lang="en-US" dirty="0">
                <a:solidFill>
                  <a:srgbClr val="000000"/>
                </a:solidFill>
                <a:latin typeface="Times New Roman"/>
                <a:cs typeface="Times New Roman"/>
                <a:sym typeface="Times New Roman"/>
              </a:rPr>
              <a:t> </a:t>
            </a:r>
            <a:r>
              <a:rPr lang="en-US" dirty="0" err="1">
                <a:solidFill>
                  <a:srgbClr val="000000"/>
                </a:solidFill>
                <a:latin typeface="Times New Roman"/>
                <a:cs typeface="Times New Roman"/>
                <a:sym typeface="Times New Roman"/>
              </a:rPr>
              <a:t>Wadale</a:t>
            </a:r>
            <a:r>
              <a:rPr lang="en-US" dirty="0">
                <a:solidFill>
                  <a:srgbClr val="000000"/>
                </a:solidFill>
                <a:latin typeface="Times New Roman"/>
                <a:cs typeface="Times New Roman"/>
                <a:sym typeface="Times New Roman"/>
              </a:rPr>
              <a:t>  2124UMLM2081</a:t>
            </a:r>
          </a:p>
          <a:p>
            <a:r>
              <a:rPr lang="en-US" dirty="0" err="1">
                <a:solidFill>
                  <a:srgbClr val="000000"/>
                </a:solidFill>
                <a:latin typeface="Times New Roman"/>
                <a:ea typeface="Times New Roman"/>
                <a:cs typeface="Times New Roman"/>
                <a:sym typeface="Times New Roman"/>
              </a:rPr>
              <a:t>Gayatri</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Jagtap</a:t>
            </a:r>
            <a:r>
              <a:rPr lang="en-US" dirty="0">
                <a:solidFill>
                  <a:srgbClr val="000000"/>
                </a:solidFill>
                <a:latin typeface="Times New Roman"/>
                <a:ea typeface="Times New Roman"/>
                <a:cs typeface="Times New Roman"/>
                <a:sym typeface="Times New Roman"/>
              </a:rPr>
              <a:t>   2124UMLF2061</a:t>
            </a:r>
          </a:p>
          <a:p>
            <a:r>
              <a:rPr lang="en-US" dirty="0" err="1">
                <a:solidFill>
                  <a:srgbClr val="000000"/>
                </a:solidFill>
                <a:latin typeface="Times New Roman"/>
                <a:ea typeface="Times New Roman"/>
                <a:cs typeface="Times New Roman"/>
                <a:sym typeface="Times New Roman"/>
              </a:rPr>
              <a:t>Sakshi</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Abak</a:t>
            </a:r>
            <a:r>
              <a:rPr lang="en-US" dirty="0">
                <a:solidFill>
                  <a:srgbClr val="000000"/>
                </a:solidFill>
                <a:latin typeface="Times New Roman"/>
                <a:ea typeface="Times New Roman"/>
                <a:cs typeface="Times New Roman"/>
                <a:sym typeface="Times New Roman"/>
              </a:rPr>
              <a:t>      2124UMLF2019</a:t>
            </a:r>
          </a:p>
          <a:p>
            <a:endParaRPr lang="en-US"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endParaRPr dirty="0"/>
          </a:p>
        </p:txBody>
      </p:sp>
      <p:sp>
        <p:nvSpPr>
          <p:cNvPr id="103" name="Google Shape;103;p1"/>
          <p:cNvSpPr txBox="1"/>
          <p:nvPr/>
        </p:nvSpPr>
        <p:spPr>
          <a:xfrm>
            <a:off x="1331581" y="2126647"/>
            <a:ext cx="9144000" cy="1655762"/>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ctr" rtl="0">
              <a:spcBef>
                <a:spcPts val="0"/>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Department of Artificial Intelligence &amp; Machine Learning</a:t>
            </a:r>
            <a:endParaRPr dirty="0"/>
          </a:p>
          <a:p>
            <a:pPr marL="0" marR="0" lvl="0" indent="0" algn="ctr" rtl="0">
              <a:spcBef>
                <a:spcPts val="1008"/>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School of Engineering &amp; Technology</a:t>
            </a:r>
            <a:endParaRPr dirty="0"/>
          </a:p>
          <a:p>
            <a:pPr marL="0" marR="0" lvl="0" indent="0" algn="ctr" rtl="0">
              <a:spcBef>
                <a:spcPts val="1008"/>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Sanjivani University</a:t>
            </a:r>
            <a:endParaRPr dirty="0"/>
          </a:p>
          <a:p>
            <a:pPr marL="0" marR="0" lvl="0" indent="0" algn="ctr" rtl="0">
              <a:spcBef>
                <a:spcPts val="1008"/>
              </a:spcBef>
              <a:spcAft>
                <a:spcPts val="0"/>
              </a:spcAft>
              <a:buClr>
                <a:schemeClr val="accent2"/>
              </a:buClr>
              <a:buSzPct val="92000"/>
              <a:buFont typeface="Noto Sans Symbols"/>
              <a:buNone/>
            </a:pPr>
            <a:r>
              <a:rPr lang="en-US" sz="2400" b="1" i="0" u="none" strike="noStrike" cap="none" dirty="0">
                <a:latin typeface="Times New Roman"/>
                <a:ea typeface="Times New Roman"/>
                <a:cs typeface="Times New Roman"/>
                <a:sym typeface="Times New Roman"/>
              </a:rPr>
              <a:t>Semester-VI, Academic Year 2025-2026</a:t>
            </a:r>
            <a:endParaRPr dirty="0"/>
          </a:p>
          <a:p>
            <a:pPr marL="0" marR="0" lvl="0" indent="0" algn="l" rtl="0">
              <a:spcBef>
                <a:spcPts val="906"/>
              </a:spcBef>
              <a:spcAft>
                <a:spcPts val="0"/>
              </a:spcAft>
              <a:buClr>
                <a:schemeClr val="accent2"/>
              </a:buClr>
              <a:buSzPct val="91999"/>
              <a:buFont typeface="Noto Sans Symbols"/>
              <a:buNone/>
            </a:pPr>
            <a:endParaRPr sz="1800" b="0" i="0" u="none" strike="noStrike" cap="none" dirty="0">
              <a:solidFill>
                <a:schemeClr val="dk2"/>
              </a:solidFill>
              <a:latin typeface="Gill Sans"/>
              <a:ea typeface="Gill Sans"/>
              <a:cs typeface="Gill Sans"/>
              <a:sym typeface="Gill Sans"/>
            </a:endParaRPr>
          </a:p>
        </p:txBody>
      </p:sp>
      <p:sp>
        <p:nvSpPr>
          <p:cNvPr id="104" name="Google Shape;104;p1"/>
          <p:cNvSpPr txBox="1"/>
          <p:nvPr/>
        </p:nvSpPr>
        <p:spPr>
          <a:xfrm>
            <a:off x="7277047" y="5189125"/>
            <a:ext cx="4469451" cy="646290"/>
          </a:xfrm>
          <a:prstGeom prst="rect">
            <a:avLst/>
          </a:prstGeom>
          <a:noFill/>
          <a:ln>
            <a:noFill/>
          </a:ln>
        </p:spPr>
        <p:txBody>
          <a:bodyPr spcFirstLastPara="1" wrap="square" lIns="91425" tIns="45700" rIns="91425" bIns="45700" anchor="t" anchorCtr="0">
            <a:spAutoFit/>
          </a:bodyPr>
          <a:lstStyle/>
          <a:p>
            <a:r>
              <a:rPr lang="en-US" sz="1800" b="1" i="0" u="none" strike="noStrike" cap="none" dirty="0">
                <a:solidFill>
                  <a:srgbClr val="000000"/>
                </a:solidFill>
                <a:latin typeface="Times New Roman"/>
                <a:ea typeface="Times New Roman"/>
                <a:cs typeface="Times New Roman"/>
                <a:sym typeface="Times New Roman"/>
              </a:rPr>
              <a:t>Guided By: </a:t>
            </a:r>
            <a:r>
              <a:rPr lang="en-US" dirty="0">
                <a:solidFill>
                  <a:srgbClr val="000000"/>
                </a:solidFill>
                <a:latin typeface="Times New Roman"/>
                <a:ea typeface="Times New Roman"/>
                <a:cs typeface="Times New Roman"/>
                <a:sym typeface="Times New Roman"/>
              </a:rPr>
              <a:t>Dr. Devyani Jadhav</a:t>
            </a:r>
            <a:endParaRPr lang="en-IN" sz="18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dirty="0"/>
          </a:p>
        </p:txBody>
      </p:sp>
      <p:pic>
        <p:nvPicPr>
          <p:cNvPr id="105" name="Google Shape;105;p1" descr="A logo with horses and a crown&#10;&#10;AI-generated content may be incorrect."/>
          <p:cNvPicPr preferRelativeResize="0"/>
          <p:nvPr/>
        </p:nvPicPr>
        <p:blipFill rotWithShape="1">
          <a:blip r:embed="rId3">
            <a:alphaModFix/>
          </a:blip>
          <a:srcRect/>
          <a:stretch/>
        </p:blipFill>
        <p:spPr>
          <a:xfrm>
            <a:off x="10143858" y="2003987"/>
            <a:ext cx="1598063" cy="13280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F59E0528-2BC1-2BD9-C8AC-3E9363DE01B0}"/>
              </a:ext>
            </a:extLst>
          </p:cNvPr>
          <p:cNvSpPr txBox="1"/>
          <p:nvPr/>
        </p:nvSpPr>
        <p:spPr>
          <a:xfrm>
            <a:off x="-246888" y="742631"/>
            <a:ext cx="4189586"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Introduction</a:t>
            </a:r>
            <a:endParaRPr sz="3200" b="1" i="0" u="none" strike="noStrike" cap="none" dirty="0">
              <a:solidFill>
                <a:schemeClr val="dk1"/>
              </a:solidFill>
              <a:latin typeface="Times New Roman"/>
              <a:ea typeface="Times New Roman"/>
              <a:cs typeface="Times New Roman"/>
              <a:sym typeface="Times New Roman"/>
            </a:endParaRPr>
          </a:p>
        </p:txBody>
      </p:sp>
      <p:sp>
        <p:nvSpPr>
          <p:cNvPr id="3" name="Google Shape;116;p3">
            <a:extLst>
              <a:ext uri="{FF2B5EF4-FFF2-40B4-BE49-F238E27FC236}">
                <a16:creationId xmlns:a16="http://schemas.microsoft.com/office/drawing/2014/main" id="{09D8E321-2FD1-1D1A-9D3F-F7695A9C9EDD}"/>
              </a:ext>
            </a:extLst>
          </p:cNvPr>
          <p:cNvSpPr txBox="1"/>
          <p:nvPr/>
        </p:nvSpPr>
        <p:spPr>
          <a:xfrm>
            <a:off x="923544" y="1562543"/>
            <a:ext cx="10954512" cy="4955162"/>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The stock market has become an important avenue for wealth creation, with increasing participation from working professionals and small investors. However, most existing platforms present complex financial data, charts, and indicators that require significant time and expertise to interpret effectively.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Despite growing interest, 9–5 employees and beginners face a major challenge in making informed investment decisions due to limited time, lack of financial knowledge, and absence of simplified guidance. This often leads to confusion, poor investment choices, or complete avoidance of the market.</a:t>
            </a:r>
          </a:p>
          <a:p>
            <a:r>
              <a:rPr lang="en-US" sz="2000" dirty="0">
                <a:latin typeface="Times New Roman" panose="02020603050405020304" pitchFamily="18" charset="0"/>
                <a:cs typeface="Times New Roman" panose="02020603050405020304" pitchFamily="18" charset="0"/>
              </a:rPr>
              <a:t>To address this gap, this project aims to develop an AI-driven stock analysis system that simplifies complex market data and provides quick, clear, and actionable investment insights with minimal user effort.</a:t>
            </a:r>
          </a:p>
          <a:p>
            <a:r>
              <a:rPr lang="en-US" sz="2000" dirty="0">
                <a:latin typeface="Times New Roman" panose="02020603050405020304" pitchFamily="18" charset="0"/>
                <a:cs typeface="Times New Roman" panose="02020603050405020304" pitchFamily="18" charset="0"/>
              </a:rPr>
              <a:t>The scope of this project focuses on building a user-friendly interface that delivers one-click stock analysis and recommendations, specifically designed for beginners and time-constrained users. It prioritizes simplicity, speed, and usability, without going deep into advanced trading strategies or high-frequency trading systems.</a:t>
            </a:r>
          </a:p>
          <a:p>
            <a:pPr lvl="3" algn="ctr"/>
            <a:endParaRPr sz="36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805099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p:nvPr/>
        </p:nvSpPr>
        <p:spPr>
          <a:xfrm>
            <a:off x="-246888" y="772556"/>
            <a:ext cx="5552042"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Problem Statement </a:t>
            </a:r>
            <a:endParaRPr sz="3200" b="1" i="0" u="none" strike="noStrike" cap="none" dirty="0">
              <a:solidFill>
                <a:schemeClr val="dk1"/>
              </a:solidFill>
              <a:latin typeface="Times New Roman"/>
              <a:ea typeface="Times New Roman"/>
              <a:cs typeface="Times New Roman"/>
              <a:sym typeface="Times New Roman"/>
            </a:endParaRPr>
          </a:p>
        </p:txBody>
      </p:sp>
      <p:sp>
        <p:nvSpPr>
          <p:cNvPr id="117" name="Google Shape;117;p3"/>
          <p:cNvSpPr txBox="1"/>
          <p:nvPr/>
        </p:nvSpPr>
        <p:spPr>
          <a:xfrm>
            <a:off x="705503" y="1357291"/>
            <a:ext cx="11054946" cy="2554505"/>
          </a:xfrm>
          <a:prstGeom prst="rect">
            <a:avLst/>
          </a:prstGeom>
          <a:noFill/>
          <a:ln>
            <a:noFill/>
          </a:ln>
        </p:spPr>
        <p:txBody>
          <a:bodyPr spcFirstLastPara="1" wrap="square" lIns="91425" tIns="45700" rIns="91425" bIns="45700" anchor="t" anchorCtr="0">
            <a:spAutoFit/>
          </a:bodyPr>
          <a:lstStyle/>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lvl="1"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 </a:t>
            </a:r>
          </a:p>
        </p:txBody>
      </p:sp>
      <p:sp>
        <p:nvSpPr>
          <p:cNvPr id="3" name="Rectangle 2">
            <a:extLst>
              <a:ext uri="{FF2B5EF4-FFF2-40B4-BE49-F238E27FC236}">
                <a16:creationId xmlns:a16="http://schemas.microsoft.com/office/drawing/2014/main" id="{48EEEBE1-247D-F1CE-0D45-2C75D4FA07F5}"/>
              </a:ext>
            </a:extLst>
          </p:cNvPr>
          <p:cNvSpPr>
            <a:spLocks noChangeArrowheads="1"/>
          </p:cNvSpPr>
          <p:nvPr/>
        </p:nvSpPr>
        <p:spPr bwMode="auto">
          <a:xfrm>
            <a:off x="1034686" y="1665048"/>
            <a:ext cx="1071737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sz="2000" dirty="0">
                <a:latin typeface="Times New Roman" panose="02020603050405020304" pitchFamily="18" charset="0"/>
                <a:cs typeface="Times New Roman" panose="02020603050405020304" pitchFamily="18" charset="0"/>
              </a:rPr>
              <a:t>Working professionals with full-time 9–5 jobs often struggle to actively participate in the stock market due to limited time and lack of financial expertise. Existing platforms primarily provide complex and raw financial data, which is difficult for beginners and small investors to interpret effectively. As a result, users are unable to make informed investment decisions, leading to missed opportunities, poor investments, or complete avoidance of the stock market. There is a need for a simplified, intelligent system that can analyze stock data and provide clear, actionable insights in minimal time.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itchFamily="18" charset="0"/>
            </a:endParaRPr>
          </a:p>
        </p:txBody>
      </p:sp>
      <p:sp>
        <p:nvSpPr>
          <p:cNvPr id="5" name="Rectangle 4">
            <a:extLst>
              <a:ext uri="{FF2B5EF4-FFF2-40B4-BE49-F238E27FC236}">
                <a16:creationId xmlns:a16="http://schemas.microsoft.com/office/drawing/2014/main" id="{79447F1D-7EE9-C770-BE8C-98CC7C4587D7}"/>
              </a:ext>
            </a:extLst>
          </p:cNvPr>
          <p:cNvSpPr>
            <a:spLocks noChangeArrowheads="1"/>
          </p:cNvSpPr>
          <p:nvPr/>
        </p:nvSpPr>
        <p:spPr bwMode="auto">
          <a:xfrm rot="10800000" flipV="1">
            <a:off x="1034686" y="4234939"/>
            <a:ext cx="1148649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 Working professionals cannot actively track and analyze multiple stocks </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Beginners depend on random tips or social media, leading to losses </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Lack of a simple, intelligent platform creates confusion </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Results in missed opportunities and poor financial growth </a:t>
            </a:r>
          </a:p>
        </p:txBody>
      </p:sp>
      <p:sp>
        <p:nvSpPr>
          <p:cNvPr id="4" name="Google Shape;116;p3">
            <a:extLst>
              <a:ext uri="{FF2B5EF4-FFF2-40B4-BE49-F238E27FC236}">
                <a16:creationId xmlns:a16="http://schemas.microsoft.com/office/drawing/2014/main" id="{A2FBE581-164E-5C2A-6E68-F8F9CF2FB7DD}"/>
              </a:ext>
            </a:extLst>
          </p:cNvPr>
          <p:cNvSpPr txBox="1"/>
          <p:nvPr/>
        </p:nvSpPr>
        <p:spPr>
          <a:xfrm>
            <a:off x="705503" y="3727148"/>
            <a:ext cx="5552042" cy="584735"/>
          </a:xfrm>
          <a:prstGeom prst="rect">
            <a:avLst/>
          </a:prstGeom>
          <a:noFill/>
          <a:ln>
            <a:noFill/>
          </a:ln>
        </p:spPr>
        <p:txBody>
          <a:bodyPr spcFirstLastPara="1" wrap="square" lIns="91425" tIns="45700" rIns="91425" bIns="45700" anchor="t" anchorCtr="0">
            <a:spAutoFit/>
          </a:bodyPr>
          <a:lstStyle/>
          <a:p>
            <a:pPr marL="285750" indent="-285750" defTabSz="914400" eaLnBrk="0" fontAlgn="base" hangingPunct="0">
              <a:spcBef>
                <a:spcPct val="0"/>
              </a:spcBef>
              <a:spcAft>
                <a:spcPct val="0"/>
              </a:spcAft>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Impact:</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52F8F354-2436-A1EE-B9D4-2EEFEC376AF3}"/>
              </a:ext>
            </a:extLst>
          </p:cNvPr>
          <p:cNvSpPr txBox="1"/>
          <p:nvPr/>
        </p:nvSpPr>
        <p:spPr>
          <a:xfrm>
            <a:off x="0" y="943799"/>
            <a:ext cx="4683362"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Literature Survey</a:t>
            </a:r>
            <a:endParaRPr sz="3200" b="1" i="0" u="none" strike="noStrike" cap="none" dirty="0">
              <a:solidFill>
                <a:schemeClr val="dk1"/>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BE8D1649-0DB1-F6F0-82B2-E0B8E570F064}"/>
              </a:ext>
            </a:extLst>
          </p:cNvPr>
          <p:cNvSpPr>
            <a:spLocks noChangeArrowheads="1"/>
          </p:cNvSpPr>
          <p:nvPr/>
        </p:nvSpPr>
        <p:spPr bwMode="auto">
          <a:xfrm>
            <a:off x="970788" y="1778598"/>
            <a:ext cx="1061618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The growth of FinTech has led to the development of stock analysis platforms like Yahoo Finance and Bloomberg, which provide extensive financial data but require users to interpret complex information, making them less suitable for beginners and time-constrained professionals.</a:t>
            </a:r>
          </a:p>
          <a:p>
            <a:r>
              <a:rPr lang="en-US" sz="2000" dirty="0">
                <a:latin typeface="Times New Roman" panose="02020603050405020304" pitchFamily="18" charset="0"/>
                <a:cs typeface="Times New Roman" panose="02020603050405020304" pitchFamily="18" charset="0"/>
              </a:rPr>
              <a:t>Research in this domain has explored machine learning models such as Linear Regression, SVM, and LSTM for stock prediction. While these models can forecast price trends, they are often complex, resource-intensive, and lack interpretability for general users.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With recent advancements, AI and Large Language Models (LLMs) have enabled systems to generate human-like insights from financial data. Additionally, multi-agent systems have been introduced, where specialized agents handle tasks like risk, value, and trend analysis collaboratively.</a:t>
            </a:r>
          </a:p>
          <a:p>
            <a:r>
              <a:rPr lang="en-US" sz="2000" dirty="0">
                <a:latin typeface="Times New Roman" panose="02020603050405020304" pitchFamily="18" charset="0"/>
                <a:cs typeface="Times New Roman" panose="02020603050405020304" pitchFamily="18" charset="0"/>
              </a:rPr>
              <a:t>However, most existing solutions either focus on raw data or complex predictions, lacking a balance between simplicity, automation, and interpretability. This project addresses this gap by combining real-time data analysis with a multi-agent AI framework to provide quick, clear, and user-friendly investment insights.</a:t>
            </a:r>
          </a:p>
          <a:p>
            <a:pPr marL="342900" indent="-342900">
              <a:buFont typeface="Wingdings"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5208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FDD7B6-E2EA-8F55-C737-44EB6387852B}"/>
              </a:ext>
            </a:extLst>
          </p:cNvPr>
          <p:cNvSpPr txBox="1"/>
          <p:nvPr/>
        </p:nvSpPr>
        <p:spPr>
          <a:xfrm>
            <a:off x="0" y="966481"/>
            <a:ext cx="5042848" cy="861774"/>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Proposed Methodology </a:t>
            </a:r>
          </a:p>
          <a:p>
            <a:endParaRPr lang="en-IN" dirty="0"/>
          </a:p>
        </p:txBody>
      </p:sp>
      <p:sp>
        <p:nvSpPr>
          <p:cNvPr id="4" name="Rectangle 1">
            <a:extLst>
              <a:ext uri="{FF2B5EF4-FFF2-40B4-BE49-F238E27FC236}">
                <a16:creationId xmlns:a16="http://schemas.microsoft.com/office/drawing/2014/main" id="{419F761D-691A-1B6A-E135-5913C3F8E9E8}"/>
              </a:ext>
            </a:extLst>
          </p:cNvPr>
          <p:cNvSpPr>
            <a:spLocks noChangeArrowheads="1"/>
          </p:cNvSpPr>
          <p:nvPr/>
        </p:nvSpPr>
        <p:spPr bwMode="auto">
          <a:xfrm rot="10800000" flipV="1">
            <a:off x="685800" y="1915850"/>
            <a:ext cx="11277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The proposed system is an AI-driven stock analysis platform that utilizes a multi-agent framework to simplify financial decision-making for working professionals and beginners.</a:t>
            </a:r>
          </a:p>
          <a:p>
            <a:r>
              <a:rPr lang="en-US" dirty="0">
                <a:latin typeface="Times New Roman" panose="02020603050405020304" pitchFamily="18" charset="0"/>
                <a:cs typeface="Times New Roman" panose="02020603050405020304" pitchFamily="18" charset="0"/>
              </a:rPr>
              <a:t>The system follows a structured workflow. First, the user provides stock ticker symbols and selects a timeframe through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-based interface. </a:t>
            </a:r>
          </a:p>
          <a:p>
            <a:r>
              <a:rPr lang="en-US" dirty="0">
                <a:latin typeface="Times New Roman" panose="02020603050405020304" pitchFamily="18" charset="0"/>
                <a:cs typeface="Times New Roman" panose="02020603050405020304" pitchFamily="18" charset="0"/>
              </a:rPr>
              <a:t>The system then collects real-time and historical market data using the Yahoo Finance API. This data is processed to calculate key financial metrics such as returns, volatility, Sharpe ratio, maximum drawdown, and P/E ratio.</a:t>
            </a:r>
          </a:p>
          <a:p>
            <a:r>
              <a:rPr lang="en-US" dirty="0">
                <a:latin typeface="Times New Roman" panose="02020603050405020304" pitchFamily="18" charset="0"/>
                <a:cs typeface="Times New Roman" panose="02020603050405020304" pitchFamily="18" charset="0"/>
              </a:rPr>
              <a:t>Next, the processed data is analyzed using a multi-agent AI system consisting of three specialized agents: Value Analyst, Risk Analyst, and Momentum Analyst. Each agent evaluates the stocks from its respective perspective and generates concise insights. These insights are then combined by a central AI agent (CIO), which produces a final consolidated investment decision.</a:t>
            </a:r>
          </a:p>
          <a:p>
            <a:r>
              <a:rPr lang="en-US" dirty="0">
                <a:latin typeface="Times New Roman" panose="02020603050405020304" pitchFamily="18" charset="0"/>
                <a:cs typeface="Times New Roman" panose="02020603050405020304" pitchFamily="18" charset="0"/>
              </a:rPr>
              <a:t>The system also includes interactive data visualization using Plotly to help users understand stock trends and performance. Additionally, a comprehensive PDF report is generated containing performance metrics, charts, and AI-based analysis for easy access and sharing.</a:t>
            </a:r>
          </a:p>
        </p:txBody>
      </p:sp>
    </p:spTree>
    <p:extLst>
      <p:ext uri="{BB962C8B-B14F-4D97-AF65-F5344CB8AC3E}">
        <p14:creationId xmlns:p14="http://schemas.microsoft.com/office/powerpoint/2010/main" val="1012737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66144D-CF5B-793E-E8C7-EF0662B7BFA4}"/>
              </a:ext>
            </a:extLst>
          </p:cNvPr>
          <p:cNvSpPr txBox="1"/>
          <p:nvPr/>
        </p:nvSpPr>
        <p:spPr>
          <a:xfrm>
            <a:off x="-777240" y="861591"/>
            <a:ext cx="5070944"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Key Features</a:t>
            </a:r>
          </a:p>
        </p:txBody>
      </p:sp>
      <p:sp>
        <p:nvSpPr>
          <p:cNvPr id="3" name="TextBox 2">
            <a:extLst>
              <a:ext uri="{FF2B5EF4-FFF2-40B4-BE49-F238E27FC236}">
                <a16:creationId xmlns:a16="http://schemas.microsoft.com/office/drawing/2014/main" id="{D573C3DC-9A64-B61B-9CCC-C4C472894F67}"/>
              </a:ext>
            </a:extLst>
          </p:cNvPr>
          <p:cNvSpPr txBox="1"/>
          <p:nvPr/>
        </p:nvSpPr>
        <p:spPr>
          <a:xfrm>
            <a:off x="830911" y="1565238"/>
            <a:ext cx="10153024" cy="3366563"/>
          </a:xfrm>
          <a:prstGeom prst="rect">
            <a:avLst/>
          </a:prstGeom>
          <a:noFill/>
        </p:spPr>
        <p:txBody>
          <a:bodyPr wrap="square" rtlCol="0">
            <a:spAutoFit/>
          </a:bodyPr>
          <a:lstStyle/>
          <a:p>
            <a:pPr marL="285750" indent="-285750">
              <a:lnSpc>
                <a:spcPct val="150000"/>
              </a:lnSpc>
              <a:buFont typeface="Wingdings" pitchFamily="2" charset="2"/>
              <a:buChar char="Ø"/>
            </a:pPr>
            <a:r>
              <a:rPr lang="en-US" b="1" dirty="0">
                <a:latin typeface="Times New Roman" panose="02020603050405020304" pitchFamily="18" charset="0"/>
                <a:cs typeface="Times New Roman" panose="02020603050405020304" pitchFamily="18" charset="0"/>
              </a:rPr>
              <a:t>Core Features of the System</a:t>
            </a:r>
          </a:p>
          <a:p>
            <a:r>
              <a:rPr lang="en-IN" dirty="0">
                <a:latin typeface="Times New Roman" panose="02020603050405020304" pitchFamily="18" charset="0"/>
                <a:cs typeface="Times New Roman" panose="02020603050405020304" pitchFamily="18" charset="0"/>
              </a:rPr>
              <a:t>	1)One-click stock analysis for multiple stocks</a:t>
            </a:r>
          </a:p>
          <a:p>
            <a:r>
              <a:rPr lang="en-IN" dirty="0">
                <a:latin typeface="Times New Roman" panose="02020603050405020304" pitchFamily="18" charset="0"/>
                <a:cs typeface="Times New Roman" panose="02020603050405020304" pitchFamily="18" charset="0"/>
              </a:rPr>
              <a:t>	2)Real-time data fetching using Yahoo Finance API</a:t>
            </a:r>
          </a:p>
          <a:p>
            <a:r>
              <a:rPr lang="en-IN" dirty="0">
                <a:latin typeface="Times New Roman" panose="02020603050405020304" pitchFamily="18" charset="0"/>
                <a:cs typeface="Times New Roman" panose="02020603050405020304" pitchFamily="18" charset="0"/>
              </a:rPr>
              <a:t>	3)Calculation of key financial metrics:</a:t>
            </a:r>
          </a:p>
          <a:p>
            <a:r>
              <a:rPr lang="en-IN" dirty="0">
                <a:latin typeface="Times New Roman" panose="02020603050405020304" pitchFamily="18" charset="0"/>
                <a:cs typeface="Times New Roman" panose="02020603050405020304" pitchFamily="18" charset="0"/>
              </a:rPr>
              <a:t>	4)Return (%)</a:t>
            </a:r>
          </a:p>
          <a:p>
            <a:r>
              <a:rPr lang="en-IN" dirty="0">
                <a:latin typeface="Times New Roman" panose="02020603050405020304" pitchFamily="18" charset="0"/>
                <a:cs typeface="Times New Roman" panose="02020603050405020304" pitchFamily="18" charset="0"/>
              </a:rPr>
              <a:t>	5)Volatility (%)</a:t>
            </a:r>
          </a:p>
          <a:p>
            <a:r>
              <a:rPr lang="en-IN" dirty="0">
                <a:latin typeface="Times New Roman" panose="02020603050405020304" pitchFamily="18" charset="0"/>
                <a:cs typeface="Times New Roman" panose="02020603050405020304" pitchFamily="18" charset="0"/>
              </a:rPr>
              <a:t>	6)Sharpe Ratio</a:t>
            </a:r>
          </a:p>
          <a:p>
            <a:r>
              <a:rPr lang="en-IN" dirty="0">
                <a:latin typeface="Times New Roman" panose="02020603050405020304" pitchFamily="18" charset="0"/>
                <a:cs typeface="Times New Roman" panose="02020603050405020304" pitchFamily="18" charset="0"/>
              </a:rPr>
              <a:t>	7)Max Drawdown</a:t>
            </a:r>
          </a:p>
          <a:p>
            <a:r>
              <a:rPr lang="en-IN" dirty="0">
                <a:latin typeface="Times New Roman" panose="02020603050405020304" pitchFamily="18" charset="0"/>
                <a:cs typeface="Times New Roman" panose="02020603050405020304" pitchFamily="18" charset="0"/>
              </a:rPr>
              <a:t>	8)P/E Ratio</a:t>
            </a:r>
          </a:p>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7643061-EAAC-22FD-8EDF-5BA81C1EEC4A}"/>
              </a:ext>
            </a:extLst>
          </p:cNvPr>
          <p:cNvSpPr txBox="1"/>
          <p:nvPr/>
        </p:nvSpPr>
        <p:spPr>
          <a:xfrm>
            <a:off x="830911" y="4061550"/>
            <a:ext cx="10153024" cy="2951064"/>
          </a:xfrm>
          <a:prstGeom prst="rect">
            <a:avLst/>
          </a:prstGeom>
          <a:noFill/>
        </p:spPr>
        <p:txBody>
          <a:bodyPr wrap="square" rtlCol="0">
            <a:spAutoFit/>
          </a:bodyPr>
          <a:lstStyle/>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IN" b="1" dirty="0">
                <a:latin typeface="Times New Roman" panose="02020603050405020304" pitchFamily="18" charset="0"/>
                <a:cs typeface="Times New Roman" panose="02020603050405020304" pitchFamily="18" charset="0"/>
              </a:rPr>
              <a:t>AI-powered multi-agent analysis:</a:t>
            </a:r>
          </a:p>
          <a:p>
            <a:r>
              <a:rPr lang="en-IN" dirty="0">
                <a:latin typeface="Times New Roman" panose="02020603050405020304" pitchFamily="18" charset="0"/>
                <a:cs typeface="Times New Roman" panose="02020603050405020304" pitchFamily="18" charset="0"/>
              </a:rPr>
              <a:t>	1)Value analysis</a:t>
            </a:r>
          </a:p>
          <a:p>
            <a:r>
              <a:rPr lang="en-IN" dirty="0">
                <a:latin typeface="Times New Roman" panose="02020603050405020304" pitchFamily="18" charset="0"/>
                <a:cs typeface="Times New Roman" panose="02020603050405020304" pitchFamily="18" charset="0"/>
              </a:rPr>
              <a:t>	2)Risk analysis</a:t>
            </a:r>
          </a:p>
          <a:p>
            <a:r>
              <a:rPr lang="en-IN" dirty="0">
                <a:latin typeface="Times New Roman" panose="02020603050405020304" pitchFamily="18" charset="0"/>
                <a:cs typeface="Times New Roman" panose="02020603050405020304" pitchFamily="18" charset="0"/>
              </a:rPr>
              <a:t>	3)Momentum analysis</a:t>
            </a:r>
          </a:p>
          <a:p>
            <a:r>
              <a:rPr lang="en-IN" dirty="0">
                <a:latin typeface="Times New Roman" panose="02020603050405020304" pitchFamily="18" charset="0"/>
                <a:cs typeface="Times New Roman" panose="02020603050405020304" pitchFamily="18" charset="0"/>
              </a:rPr>
              <a:t>	4)Final investment decision by AI (CIO agent)</a:t>
            </a:r>
          </a:p>
          <a:p>
            <a:r>
              <a:rPr lang="en-IN" dirty="0">
                <a:latin typeface="Times New Roman" panose="02020603050405020304" pitchFamily="18" charset="0"/>
                <a:cs typeface="Times New Roman" panose="02020603050405020304" pitchFamily="18" charset="0"/>
              </a:rPr>
              <a:t>	5)Interactive stock price charts with moving average</a:t>
            </a:r>
          </a:p>
          <a:p>
            <a:r>
              <a:rPr lang="en-IN" dirty="0">
                <a:latin typeface="Times New Roman" panose="02020603050405020304" pitchFamily="18" charset="0"/>
                <a:cs typeface="Times New Roman" panose="02020603050405020304" pitchFamily="18" charset="0"/>
              </a:rPr>
              <a:t>	6)Automated PDF report generation</a:t>
            </a:r>
          </a:p>
          <a:p>
            <a:r>
              <a:rPr lang="en-IN" dirty="0">
                <a:latin typeface="Times New Roman" panose="02020603050405020304" pitchFamily="18" charset="0"/>
                <a:cs typeface="Times New Roman" panose="02020603050405020304" pitchFamily="18" charset="0"/>
              </a:rPr>
              <a:t>	7)Simple and user-friendly interface for beginners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487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9FB268F8-C261-F08D-F3FB-7A501A1FBA89}"/>
              </a:ext>
            </a:extLst>
          </p:cNvPr>
          <p:cNvSpPr txBox="1"/>
          <p:nvPr/>
        </p:nvSpPr>
        <p:spPr>
          <a:xfrm>
            <a:off x="-402337" y="760919"/>
            <a:ext cx="4332025" cy="584735"/>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3200" b="1" i="0" u="none" strike="noStrike" cap="none" dirty="0">
                <a:solidFill>
                  <a:schemeClr val="dk1"/>
                </a:solidFill>
                <a:latin typeface="Times New Roman"/>
                <a:ea typeface="Times New Roman"/>
                <a:cs typeface="Times New Roman"/>
                <a:sym typeface="Times New Roman"/>
              </a:rPr>
              <a:t>Objectives</a:t>
            </a:r>
            <a:r>
              <a:rPr lang="en-US" sz="2800" b="1" i="0" u="none" strike="noStrike" cap="none" dirty="0">
                <a:solidFill>
                  <a:schemeClr val="dk1"/>
                </a:solidFill>
                <a:latin typeface="Times New Roman"/>
                <a:ea typeface="Times New Roman"/>
                <a:cs typeface="Times New Roman"/>
                <a:sym typeface="Times New Roman"/>
              </a:rPr>
              <a:t> </a:t>
            </a:r>
            <a:endParaRPr sz="2800" b="1" i="0" u="none" strike="noStrike" cap="none" dirty="0">
              <a:solidFill>
                <a:schemeClr val="dk1"/>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CD193A12-E79C-CD3A-933E-393C16E736B5}"/>
              </a:ext>
            </a:extLst>
          </p:cNvPr>
          <p:cNvSpPr>
            <a:spLocks noChangeArrowheads="1"/>
          </p:cNvSpPr>
          <p:nvPr/>
        </p:nvSpPr>
        <p:spPr bwMode="auto">
          <a:xfrm>
            <a:off x="1025652" y="1766119"/>
            <a:ext cx="1061618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Wingdings" pitchFamily="2" charset="2"/>
              <a:buChar char="Ø"/>
            </a:pPr>
            <a:r>
              <a:rPr lang="en-US" sz="2000" dirty="0">
                <a:latin typeface="Times New Roman" pitchFamily="18" charset="0"/>
                <a:cs typeface="Times New Roman" pitchFamily="18" charset="0"/>
              </a:rPr>
              <a:t>Users can analyze multiple stocks instantly with one click.</a:t>
            </a:r>
          </a:p>
          <a:p>
            <a:pPr marL="342900" indent="-342900">
              <a:buFont typeface="Wingdings" pitchFamily="2" charset="2"/>
              <a:buChar char="Ø"/>
            </a:pPr>
            <a:r>
              <a:rPr lang="en-US" sz="2000" dirty="0">
                <a:latin typeface="Times New Roman" pitchFamily="18" charset="0"/>
                <a:cs typeface="Times New Roman" pitchFamily="18" charset="0"/>
              </a:rPr>
              <a:t>Simplified understanding of complex financial data.</a:t>
            </a:r>
          </a:p>
          <a:p>
            <a:pPr marL="342900" indent="-342900">
              <a:buFont typeface="Wingdings" pitchFamily="2" charset="2"/>
              <a:buChar char="Ø"/>
            </a:pPr>
            <a:r>
              <a:rPr lang="en-US" sz="2000" dirty="0">
                <a:latin typeface="Times New Roman" pitchFamily="18" charset="0"/>
                <a:cs typeface="Times New Roman" pitchFamily="18" charset="0"/>
              </a:rPr>
              <a:t>AI-generated insights for better decision making.</a:t>
            </a:r>
          </a:p>
          <a:p>
            <a:pPr marL="342900" indent="-342900">
              <a:buFont typeface="Wingdings" pitchFamily="2" charset="2"/>
              <a:buChar char="Ø"/>
            </a:pPr>
            <a:r>
              <a:rPr lang="en-US" sz="2000" dirty="0">
                <a:latin typeface="Times New Roman" pitchFamily="18" charset="0"/>
                <a:cs typeface="Times New Roman" pitchFamily="18" charset="0"/>
              </a:rPr>
              <a:t>Time-saving solution for working professionals (9–5 users).</a:t>
            </a:r>
          </a:p>
          <a:p>
            <a:pPr marL="342900" indent="-342900">
              <a:buFont typeface="Wingdings" pitchFamily="2" charset="2"/>
              <a:buChar char="Ø"/>
            </a:pPr>
            <a:r>
              <a:rPr lang="en-US" sz="2000" dirty="0">
                <a:latin typeface="Times New Roman" pitchFamily="18" charset="0"/>
                <a:cs typeface="Times New Roman" pitchFamily="18" charset="0"/>
              </a:rPr>
              <a:t>Reduced dependency on expert knowledge or external advice.</a:t>
            </a:r>
          </a:p>
          <a:p>
            <a:pPr marL="342900" indent="-342900">
              <a:buFont typeface="Wingdings" pitchFamily="2" charset="2"/>
              <a:buChar char="Ø"/>
            </a:pPr>
            <a:r>
              <a:rPr lang="en-US" sz="2000" dirty="0">
                <a:latin typeface="Times New Roman" pitchFamily="18" charset="0"/>
                <a:cs typeface="Times New Roman" pitchFamily="18" charset="0"/>
              </a:rPr>
              <a:t>Clear comparison between different stocks.</a:t>
            </a:r>
          </a:p>
          <a:p>
            <a:pPr marL="342900" indent="-342900">
              <a:buFont typeface="Wingdings" pitchFamily="2" charset="2"/>
              <a:buChar char="Ø"/>
            </a:pPr>
            <a:r>
              <a:rPr lang="en-US" sz="2000" dirty="0">
                <a:latin typeface="Times New Roman" pitchFamily="18" charset="0"/>
                <a:cs typeface="Times New Roman" pitchFamily="18" charset="0"/>
              </a:rPr>
              <a:t>Downloadable PDF report for detailed analysis.</a:t>
            </a:r>
          </a:p>
        </p:txBody>
      </p:sp>
    </p:spTree>
    <p:extLst>
      <p:ext uri="{BB962C8B-B14F-4D97-AF65-F5344CB8AC3E}">
        <p14:creationId xmlns:p14="http://schemas.microsoft.com/office/powerpoint/2010/main" val="2670743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B52FDAD4-ACDA-A3B6-C694-DC764CB114AF}"/>
            </a:ext>
          </a:extLst>
        </p:cNvPr>
        <p:cNvGrpSpPr/>
        <p:nvPr/>
      </p:nvGrpSpPr>
      <p:grpSpPr>
        <a:xfrm>
          <a:off x="0" y="0"/>
          <a:ext cx="0" cy="0"/>
          <a:chOff x="0" y="0"/>
          <a:chExt cx="0" cy="0"/>
        </a:xfrm>
      </p:grpSpPr>
      <p:sp>
        <p:nvSpPr>
          <p:cNvPr id="116" name="Google Shape;116;p3">
            <a:extLst>
              <a:ext uri="{FF2B5EF4-FFF2-40B4-BE49-F238E27FC236}">
                <a16:creationId xmlns:a16="http://schemas.microsoft.com/office/drawing/2014/main" id="{E2F91D01-EBAA-E9D3-2A54-DF48B5D15AD0}"/>
              </a:ext>
            </a:extLst>
          </p:cNvPr>
          <p:cNvSpPr txBox="1"/>
          <p:nvPr/>
        </p:nvSpPr>
        <p:spPr>
          <a:xfrm>
            <a:off x="0" y="815783"/>
            <a:ext cx="6740762" cy="523220"/>
          </a:xfrm>
          <a:prstGeom prst="rect">
            <a:avLst/>
          </a:prstGeom>
          <a:noFill/>
          <a:ln>
            <a:noFill/>
          </a:ln>
        </p:spPr>
        <p:txBody>
          <a:bodyPr spcFirstLastPara="1" wrap="square" lIns="91425" tIns="45700" rIns="91425" bIns="45700" anchor="t" anchorCtr="0">
            <a:spAutoFit/>
          </a:bodyPr>
          <a:lstStyle/>
          <a:p>
            <a:pPr marL="457200" marR="0" lvl="0" indent="-457200" algn="ctr" rtl="0">
              <a:spcBef>
                <a:spcPts val="0"/>
              </a:spcBef>
              <a:spcAft>
                <a:spcPts val="0"/>
              </a:spcAft>
              <a:buFont typeface="Wingdings" panose="05000000000000000000" pitchFamily="2" charset="2"/>
              <a:buChar char="q"/>
            </a:pPr>
            <a:r>
              <a:rPr lang="en-US" sz="2800" b="1" i="0" u="none" strike="noStrike" cap="none" dirty="0">
                <a:solidFill>
                  <a:schemeClr val="dk1"/>
                </a:solidFill>
                <a:latin typeface="Times New Roman"/>
                <a:ea typeface="Times New Roman"/>
                <a:cs typeface="Times New Roman"/>
                <a:sym typeface="Times New Roman"/>
              </a:rPr>
              <a:t>Domain and Technology Stack</a:t>
            </a:r>
            <a:endParaRPr sz="2800" b="1" i="0" u="none" strike="noStrike" cap="none" dirty="0">
              <a:solidFill>
                <a:schemeClr val="dk1"/>
              </a:solidFill>
              <a:latin typeface="Times New Roman"/>
              <a:ea typeface="Times New Roman"/>
              <a:cs typeface="Times New Roman"/>
              <a:sym typeface="Times New Roman"/>
            </a:endParaRPr>
          </a:p>
        </p:txBody>
      </p:sp>
      <p:sp>
        <p:nvSpPr>
          <p:cNvPr id="117" name="Google Shape;117;p3">
            <a:extLst>
              <a:ext uri="{FF2B5EF4-FFF2-40B4-BE49-F238E27FC236}">
                <a16:creationId xmlns:a16="http://schemas.microsoft.com/office/drawing/2014/main" id="{AB870E3B-8116-B4A8-E964-90C26D624B5E}"/>
              </a:ext>
            </a:extLst>
          </p:cNvPr>
          <p:cNvSpPr txBox="1"/>
          <p:nvPr/>
        </p:nvSpPr>
        <p:spPr>
          <a:xfrm>
            <a:off x="1140322" y="1540171"/>
            <a:ext cx="10444322" cy="6063158"/>
          </a:xfrm>
          <a:prstGeom prst="rect">
            <a:avLst/>
          </a:prstGeom>
          <a:noFill/>
          <a:ln>
            <a:noFill/>
          </a:ln>
        </p:spPr>
        <p:txBody>
          <a:bodyPr spcFirstLastPara="1" wrap="square" lIns="91425" tIns="45700" rIns="91425" bIns="45700" anchor="t" anchorCtr="0">
            <a:spAutoFit/>
          </a:bodyPr>
          <a:lstStyle/>
          <a:p>
            <a:pPr marL="342900" indent="-342900" algn="just">
              <a:buFont typeface="Wingdings" pitchFamily="2" charset="2"/>
              <a:buChar char="Ø"/>
            </a:pPr>
            <a:r>
              <a:rPr lang="en-US" sz="2400" b="1" dirty="0">
                <a:latin typeface="Times New Roman" panose="02020603050405020304" pitchFamily="18" charset="0"/>
                <a:cs typeface="Times New Roman" panose="02020603050405020304" pitchFamily="18" charset="0"/>
              </a:rPr>
              <a:t>Domain:</a:t>
            </a:r>
          </a:p>
          <a:p>
            <a:r>
              <a:rPr lang="en-US" sz="2000" dirty="0">
                <a:latin typeface="Times New Roman" panose="02020603050405020304" pitchFamily="18" charset="0"/>
                <a:cs typeface="Times New Roman" panose="02020603050405020304" pitchFamily="18" charset="0"/>
              </a:rPr>
              <a:t>	 1)Artificial Intelligence (AI)</a:t>
            </a:r>
          </a:p>
          <a:p>
            <a:r>
              <a:rPr lang="en-US" sz="2000" dirty="0">
                <a:latin typeface="Times New Roman" panose="02020603050405020304" pitchFamily="18" charset="0"/>
                <a:cs typeface="Times New Roman" panose="02020603050405020304" pitchFamily="18" charset="0"/>
              </a:rPr>
              <a:t>	 2)Financial Technology (FinTech)</a:t>
            </a:r>
          </a:p>
          <a:p>
            <a:r>
              <a:rPr lang="en-US" sz="2000" dirty="0">
                <a:latin typeface="Times New Roman" panose="02020603050405020304" pitchFamily="18" charset="0"/>
                <a:cs typeface="Times New Roman" panose="02020603050405020304" pitchFamily="18" charset="0"/>
              </a:rPr>
              <a:t>	 3)Data Analysis &amp; Visualization</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itchFamily="2" charset="2"/>
              <a:buChar char="Ø"/>
            </a:pPr>
            <a:r>
              <a:rPr lang="en-US" sz="2400" b="1" dirty="0">
                <a:latin typeface="Times New Roman" panose="02020603050405020304" pitchFamily="18" charset="0"/>
                <a:cs typeface="Times New Roman" panose="02020603050405020304" pitchFamily="18" charset="0"/>
              </a:rPr>
              <a:t>Technology Stack: </a:t>
            </a:r>
          </a:p>
          <a:p>
            <a:r>
              <a:rPr lang="en-US" sz="2000" b="1" dirty="0">
                <a:latin typeface="Times New Roman" panose="02020603050405020304" pitchFamily="18" charset="0"/>
                <a:cs typeface="Times New Roman" panose="02020603050405020304" pitchFamily="18" charset="0"/>
              </a:rPr>
              <a:t>	</a:t>
            </a:r>
            <a:r>
              <a:rPr lang="en-IN" sz="2000" dirty="0">
                <a:latin typeface="Times New Roman" pitchFamily="18" charset="0"/>
                <a:cs typeface="Times New Roman" pitchFamily="18" charset="0"/>
              </a:rPr>
              <a:t>1)Frontend / Interface – </a:t>
            </a:r>
            <a:r>
              <a:rPr lang="en-IN" sz="2000" dirty="0" err="1">
                <a:latin typeface="Times New Roman" pitchFamily="18" charset="0"/>
                <a:cs typeface="Times New Roman" pitchFamily="18" charset="0"/>
              </a:rPr>
              <a:t>Streamlit</a:t>
            </a:r>
            <a:r>
              <a:rPr lang="en-IN" sz="2000" dirty="0">
                <a:latin typeface="Times New Roman" pitchFamily="18" charset="0"/>
                <a:cs typeface="Times New Roman" pitchFamily="18" charset="0"/>
              </a:rPr>
              <a:t> (for web app UI)</a:t>
            </a:r>
          </a:p>
          <a:p>
            <a:r>
              <a:rPr lang="en-IN" sz="2000" dirty="0">
                <a:latin typeface="Times New Roman" pitchFamily="18" charset="0"/>
                <a:cs typeface="Times New Roman" pitchFamily="18" charset="0"/>
              </a:rPr>
              <a:t>	2)Backend – Python (for application logic and processing)</a:t>
            </a:r>
          </a:p>
          <a:p>
            <a:r>
              <a:rPr lang="en-IN" sz="2000" dirty="0">
                <a:latin typeface="Times New Roman" pitchFamily="18" charset="0"/>
                <a:cs typeface="Times New Roman" pitchFamily="18" charset="0"/>
              </a:rPr>
              <a:t>	3)Deployment – </a:t>
            </a:r>
            <a:r>
              <a:rPr lang="en-IN" sz="2000" dirty="0" err="1">
                <a:latin typeface="Times New Roman" pitchFamily="18" charset="0"/>
                <a:cs typeface="Times New Roman" pitchFamily="18" charset="0"/>
              </a:rPr>
              <a:t>Streamlit</a:t>
            </a:r>
            <a:r>
              <a:rPr lang="en-IN" sz="2000" dirty="0">
                <a:latin typeface="Times New Roman" pitchFamily="18" charset="0"/>
                <a:cs typeface="Times New Roman" pitchFamily="18" charset="0"/>
              </a:rPr>
              <a:t> Cloud (for hosting and running the application)</a:t>
            </a:r>
          </a:p>
          <a:p>
            <a:r>
              <a:rPr lang="en-IN" sz="2000" dirty="0">
                <a:latin typeface="Times New Roman" pitchFamily="18" charset="0"/>
                <a:cs typeface="Times New Roman" pitchFamily="18" charset="0"/>
              </a:rPr>
              <a:t>	4)Data Source – Yahoo Finance API (</a:t>
            </a:r>
            <a:r>
              <a:rPr lang="en-IN" sz="2000" dirty="0" err="1">
                <a:latin typeface="Times New Roman" pitchFamily="18" charset="0"/>
                <a:cs typeface="Times New Roman" pitchFamily="18" charset="0"/>
              </a:rPr>
              <a:t>yFinance</a:t>
            </a:r>
            <a:r>
              <a:rPr lang="en-IN" sz="2000" dirty="0">
                <a:latin typeface="Times New Roman" pitchFamily="18" charset="0"/>
                <a:cs typeface="Times New Roman" pitchFamily="18" charset="0"/>
              </a:rPr>
              <a:t> for real-time stock data)</a:t>
            </a:r>
          </a:p>
          <a:p>
            <a:r>
              <a:rPr lang="en-IN" sz="2000" dirty="0">
                <a:latin typeface="Times New Roman" pitchFamily="18" charset="0"/>
                <a:cs typeface="Times New Roman" pitchFamily="18" charset="0"/>
              </a:rPr>
              <a:t>	5)AI Framework – </a:t>
            </a:r>
            <a:r>
              <a:rPr lang="en-IN" sz="2000" dirty="0" err="1">
                <a:latin typeface="Times New Roman" pitchFamily="18" charset="0"/>
                <a:cs typeface="Times New Roman" pitchFamily="18" charset="0"/>
              </a:rPr>
              <a:t>LangChain</a:t>
            </a:r>
            <a:r>
              <a:rPr lang="en-IN" sz="2000" dirty="0">
                <a:latin typeface="Times New Roman" pitchFamily="18" charset="0"/>
                <a:cs typeface="Times New Roman" pitchFamily="18" charset="0"/>
              </a:rPr>
              <a:t> (for multi-agent system)</a:t>
            </a:r>
          </a:p>
          <a:p>
            <a:r>
              <a:rPr lang="en-IN" sz="2000" dirty="0">
                <a:latin typeface="Times New Roman" pitchFamily="18" charset="0"/>
                <a:cs typeface="Times New Roman" pitchFamily="18" charset="0"/>
              </a:rPr>
              <a:t>	6)AI Model – </a:t>
            </a:r>
            <a:r>
              <a:rPr lang="en-IN" sz="2000" dirty="0" err="1">
                <a:latin typeface="Times New Roman" pitchFamily="18" charset="0"/>
                <a:cs typeface="Times New Roman" pitchFamily="18" charset="0"/>
              </a:rPr>
              <a:t>Groq</a:t>
            </a:r>
            <a:r>
              <a:rPr lang="en-IN" sz="2000" dirty="0">
                <a:latin typeface="Times New Roman" pitchFamily="18" charset="0"/>
                <a:cs typeface="Times New Roman" pitchFamily="18" charset="0"/>
              </a:rPr>
              <a:t> LLM (</a:t>
            </a:r>
            <a:r>
              <a:rPr lang="en-IN" sz="2000" dirty="0" err="1">
                <a:latin typeface="Times New Roman" pitchFamily="18" charset="0"/>
                <a:cs typeface="Times New Roman" pitchFamily="18" charset="0"/>
              </a:rPr>
              <a:t>LLaMA</a:t>
            </a:r>
            <a:r>
              <a:rPr lang="en-IN" sz="2000" dirty="0">
                <a:latin typeface="Times New Roman" pitchFamily="18" charset="0"/>
                <a:cs typeface="Times New Roman" pitchFamily="18" charset="0"/>
              </a:rPr>
              <a:t> 3 for analysis and decision making)</a:t>
            </a:r>
          </a:p>
          <a:p>
            <a:r>
              <a:rPr lang="en-IN" sz="2000" dirty="0">
                <a:latin typeface="Times New Roman" pitchFamily="18" charset="0"/>
                <a:cs typeface="Times New Roman" pitchFamily="18" charset="0"/>
              </a:rPr>
              <a:t>	7)Data Processing – Pandas &amp; NumPy (for calculations and data handling)</a:t>
            </a:r>
          </a:p>
          <a:p>
            <a:r>
              <a:rPr lang="en-IN" sz="2000" dirty="0">
                <a:latin typeface="Times New Roman" pitchFamily="18" charset="0"/>
                <a:cs typeface="Times New Roman" pitchFamily="18" charset="0"/>
              </a:rPr>
              <a:t>	8)Visualization – Plotly (interactive charts)</a:t>
            </a:r>
          </a:p>
          <a:p>
            <a:r>
              <a:rPr lang="en-IN" sz="2000" dirty="0">
                <a:latin typeface="Times New Roman" pitchFamily="18" charset="0"/>
                <a:cs typeface="Times New Roman" pitchFamily="18" charset="0"/>
              </a:rPr>
              <a:t>	9)Visualization – Matplotlib (for PDF chart generation)</a:t>
            </a:r>
          </a:p>
          <a:p>
            <a:r>
              <a:rPr lang="en-IN" sz="2000" dirty="0">
                <a:latin typeface="Times New Roman" pitchFamily="18" charset="0"/>
                <a:cs typeface="Times New Roman" pitchFamily="18" charset="0"/>
              </a:rPr>
              <a:t>	10)Report Generation – </a:t>
            </a:r>
            <a:r>
              <a:rPr lang="en-IN" sz="2000" dirty="0" err="1">
                <a:latin typeface="Times New Roman" pitchFamily="18" charset="0"/>
                <a:cs typeface="Times New Roman" pitchFamily="18" charset="0"/>
              </a:rPr>
              <a:t>ReportLab</a:t>
            </a:r>
            <a:r>
              <a:rPr lang="en-IN" sz="2000" dirty="0">
                <a:latin typeface="Times New Roman" pitchFamily="18" charset="0"/>
                <a:cs typeface="Times New Roman" pitchFamily="18" charset="0"/>
              </a:rPr>
              <a:t> (for generating PDF reports)</a:t>
            </a:r>
          </a:p>
          <a:p>
            <a:pPr marL="342900" indent="-342900"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54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80ED74-78AC-DF2F-DC82-2F0063DC6BC4}"/>
              </a:ext>
            </a:extLst>
          </p:cNvPr>
          <p:cNvSpPr txBox="1"/>
          <p:nvPr/>
        </p:nvSpPr>
        <p:spPr>
          <a:xfrm>
            <a:off x="0" y="808117"/>
            <a:ext cx="563870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System Architecture</a:t>
            </a:r>
          </a:p>
        </p:txBody>
      </p:sp>
      <p:sp>
        <p:nvSpPr>
          <p:cNvPr id="9" name="Rectangle 8">
            <a:extLst>
              <a:ext uri="{FF2B5EF4-FFF2-40B4-BE49-F238E27FC236}">
                <a16:creationId xmlns:a16="http://schemas.microsoft.com/office/drawing/2014/main" id="{988B8508-06EA-4F70-D0EA-A64DA166E1D7}"/>
              </a:ext>
            </a:extLst>
          </p:cNvPr>
          <p:cNvSpPr/>
          <p:nvPr/>
        </p:nvSpPr>
        <p:spPr>
          <a:xfrm>
            <a:off x="6096000" y="2715768"/>
            <a:ext cx="2139696" cy="5852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7B4A2AF2-5649-7FC7-4132-4C9361A2B124}"/>
              </a:ext>
            </a:extLst>
          </p:cNvPr>
          <p:cNvPicPr>
            <a:picLocks noChangeAspect="1"/>
          </p:cNvPicPr>
          <p:nvPr/>
        </p:nvPicPr>
        <p:blipFill>
          <a:blip r:embed="rId2"/>
          <a:stretch>
            <a:fillRect/>
          </a:stretch>
        </p:blipFill>
        <p:spPr>
          <a:xfrm>
            <a:off x="1309396" y="1469655"/>
            <a:ext cx="9573208" cy="4867137"/>
          </a:xfrm>
          <a:prstGeom prst="rect">
            <a:avLst/>
          </a:prstGeom>
        </p:spPr>
      </p:pic>
      <p:sp>
        <p:nvSpPr>
          <p:cNvPr id="12" name="Rectangle 11">
            <a:extLst>
              <a:ext uri="{FF2B5EF4-FFF2-40B4-BE49-F238E27FC236}">
                <a16:creationId xmlns:a16="http://schemas.microsoft.com/office/drawing/2014/main" id="{0A8BA6FD-A790-6A14-AC2C-B5BDF4063EC9}"/>
              </a:ext>
            </a:extLst>
          </p:cNvPr>
          <p:cNvSpPr/>
          <p:nvPr/>
        </p:nvSpPr>
        <p:spPr>
          <a:xfrm>
            <a:off x="1309396" y="2569464"/>
            <a:ext cx="4067276" cy="1773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a:extLst>
              <a:ext uri="{FF2B5EF4-FFF2-40B4-BE49-F238E27FC236}">
                <a16:creationId xmlns:a16="http://schemas.microsoft.com/office/drawing/2014/main" id="{F83B76C7-33AD-7A02-278E-2C11ACC0472F}"/>
              </a:ext>
            </a:extLst>
          </p:cNvPr>
          <p:cNvSpPr/>
          <p:nvPr/>
        </p:nvSpPr>
        <p:spPr>
          <a:xfrm>
            <a:off x="5376672" y="2569464"/>
            <a:ext cx="5505932" cy="1773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D7558E29-3480-062A-D930-8A9AAB33EDBA}"/>
              </a:ext>
            </a:extLst>
          </p:cNvPr>
          <p:cNvSpPr/>
          <p:nvPr/>
        </p:nvSpPr>
        <p:spPr>
          <a:xfrm>
            <a:off x="1309396" y="4343400"/>
            <a:ext cx="9573208" cy="19933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07FC9318-3348-DE31-677F-EFEAF73932DD}"/>
              </a:ext>
            </a:extLst>
          </p:cNvPr>
          <p:cNvSpPr/>
          <p:nvPr/>
        </p:nvSpPr>
        <p:spPr>
          <a:xfrm>
            <a:off x="1309396" y="1469654"/>
            <a:ext cx="9573208" cy="10998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07702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1EDAF1-F488-5661-69D3-E688864E4734}"/>
              </a:ext>
            </a:extLst>
          </p:cNvPr>
          <p:cNvSpPr txBox="1"/>
          <p:nvPr/>
        </p:nvSpPr>
        <p:spPr>
          <a:xfrm>
            <a:off x="246888" y="765711"/>
            <a:ext cx="413984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Implementation</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C9D9EEDF-D571-9DFB-CE4D-D7192AEDABD9}"/>
              </a:ext>
            </a:extLst>
          </p:cNvPr>
          <p:cNvSpPr txBox="1"/>
          <p:nvPr/>
        </p:nvSpPr>
        <p:spPr>
          <a:xfrm>
            <a:off x="632792" y="1462337"/>
            <a:ext cx="11787808" cy="4124206"/>
          </a:xfrm>
          <a:prstGeom prst="rect">
            <a:avLst/>
          </a:prstGeom>
          <a:noFill/>
        </p:spPr>
        <p:txBody>
          <a:bodyPr wrap="square" rtlCol="0">
            <a:spAutoFit/>
          </a:bodyPr>
          <a:lstStyle/>
          <a:p>
            <a:r>
              <a:rPr lang="en-IN" sz="2400" b="1" dirty="0">
                <a:latin typeface="Times New Roman" pitchFamily="18" charset="0"/>
                <a:cs typeface="Times New Roman" pitchFamily="18" charset="0"/>
              </a:rPr>
              <a:t>Specialized AI Agents</a:t>
            </a:r>
            <a:endParaRPr lang="en-IN" sz="2000" b="1" dirty="0">
              <a:latin typeface="Times New Roman" pitchFamily="18" charset="0"/>
              <a:cs typeface="Times New Roman" pitchFamily="18" charset="0"/>
            </a:endParaRPr>
          </a:p>
          <a:p>
            <a:pPr marL="342900" indent="-342900">
              <a:buFont typeface="Wingdings" panose="05000000000000000000" pitchFamily="2" charset="2"/>
              <a:buChar char="Ø"/>
            </a:pPr>
            <a:endParaRPr lang="en-IN" sz="2000" b="1" dirty="0">
              <a:latin typeface="Times New Roman" pitchFamily="18" charset="0"/>
              <a:cs typeface="Times New Roman" pitchFamily="18" charset="0"/>
            </a:endParaRPr>
          </a:p>
          <a:p>
            <a:r>
              <a:rPr lang="en-US" b="1" dirty="0">
                <a:latin typeface="Times New Roman" pitchFamily="18" charset="0"/>
                <a:cs typeface="Times New Roman" pitchFamily="18" charset="0"/>
              </a:rPr>
              <a:t>1) Chief Investment Officer (CIO)</a:t>
            </a:r>
          </a:p>
          <a:p>
            <a:r>
              <a:rPr lang="en-US" dirty="0">
                <a:latin typeface="Times New Roman" pitchFamily="18" charset="0"/>
                <a:cs typeface="Times New Roman" pitchFamily="18" charset="0"/>
              </a:rPr>
              <a:t>    Combines all agent outputs </a:t>
            </a:r>
          </a:p>
          <a:p>
            <a:r>
              <a:rPr lang="en-US" dirty="0">
                <a:latin typeface="Times New Roman" pitchFamily="18" charset="0"/>
                <a:cs typeface="Times New Roman" pitchFamily="18" charset="0"/>
              </a:rPr>
              <a:t>   Gives final investment decision and summary</a:t>
            </a:r>
          </a:p>
          <a:p>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2) Value Analyst</a:t>
            </a:r>
          </a:p>
          <a:p>
            <a:r>
              <a:rPr lang="en-US" dirty="0">
                <a:latin typeface="Times New Roman" pitchFamily="18" charset="0"/>
                <a:cs typeface="Times New Roman" pitchFamily="18" charset="0"/>
              </a:rPr>
              <a:t>    Focuses on stock valuation </a:t>
            </a:r>
          </a:p>
          <a:p>
            <a:r>
              <a:rPr lang="en-US" dirty="0">
                <a:latin typeface="Times New Roman" pitchFamily="18" charset="0"/>
                <a:cs typeface="Times New Roman" pitchFamily="18" charset="0"/>
              </a:rPr>
              <a:t>    Uses P/E ratio to check if stock is overvalued or undervalued</a:t>
            </a:r>
          </a:p>
          <a:p>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b="1" dirty="0">
                <a:latin typeface="Times New Roman" panose="02020603050405020304" pitchFamily="18" charset="0"/>
                <a:cs typeface="Times New Roman" panose="02020603050405020304" pitchFamily="18" charset="0"/>
              </a:rPr>
              <a:t>P/E=  Current Stock Price /Earnings Per Share (EPS) </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6874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FE36-842C-CD11-1C74-AB928A7F40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9A671B-E440-2D87-068F-816D3C9FC925}"/>
              </a:ext>
            </a:extLst>
          </p:cNvPr>
          <p:cNvSpPr txBox="1"/>
          <p:nvPr/>
        </p:nvSpPr>
        <p:spPr>
          <a:xfrm>
            <a:off x="0" y="637695"/>
            <a:ext cx="413984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Implementation</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8B6252FD-0928-C8F7-99FD-FA3AB1D1DEAB}"/>
              </a:ext>
            </a:extLst>
          </p:cNvPr>
          <p:cNvSpPr txBox="1"/>
          <p:nvPr/>
        </p:nvSpPr>
        <p:spPr>
          <a:xfrm>
            <a:off x="963301" y="1471910"/>
            <a:ext cx="11787808" cy="5109091"/>
          </a:xfrm>
          <a:prstGeom prst="rect">
            <a:avLst/>
          </a:prstGeom>
          <a:noFill/>
        </p:spPr>
        <p:txBody>
          <a:bodyPr wrap="square" rtlCol="0">
            <a:spAutoFit/>
          </a:bodyPr>
          <a:lstStyle/>
          <a:p>
            <a:r>
              <a:rPr lang="en-US" b="1" dirty="0">
                <a:latin typeface="Times New Roman" pitchFamily="18" charset="0"/>
                <a:cs typeface="Times New Roman" pitchFamily="18" charset="0"/>
              </a:rPr>
              <a:t>3) Risk Analyst</a:t>
            </a:r>
          </a:p>
          <a:p>
            <a:r>
              <a:rPr lang="en-US" dirty="0">
                <a:latin typeface="Times New Roman" pitchFamily="18" charset="0"/>
                <a:cs typeface="Times New Roman" pitchFamily="18" charset="0"/>
              </a:rPr>
              <a:t>    Evaluates risk using: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Volatility:</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Standard deviation of returns → measures how much price fluctuates</a:t>
            </a:r>
          </a:p>
          <a:p>
            <a:r>
              <a:rPr lang="en-US" dirty="0">
                <a:latin typeface="Times New Roman" pitchFamily="18" charset="0"/>
                <a:cs typeface="Times New Roman" pitchFamily="18" charset="0"/>
              </a:rPr>
              <a:t>              Multiply by √252 → converts daily volatility to annual volatility (252 trading days)</a:t>
            </a:r>
          </a:p>
          <a:p>
            <a:r>
              <a:rPr lang="en-US" dirty="0">
                <a:latin typeface="Times New Roman" pitchFamily="18" charset="0"/>
                <a:cs typeface="Times New Roman" pitchFamily="18" charset="0"/>
              </a:rPr>
              <a:t>              Multiply by 100 → convert to percentage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IN" dirty="0">
                <a:latin typeface="Times New Roman" panose="02020603050405020304" pitchFamily="18" charset="0"/>
                <a:cs typeface="Times New Roman" panose="02020603050405020304" pitchFamily="18" charset="0"/>
              </a:rPr>
              <a:t>Volatility=</a:t>
            </a:r>
            <a:r>
              <a:rPr lang="el-GR" dirty="0">
                <a:latin typeface="Times New Roman" panose="02020603050405020304" pitchFamily="18" charset="0"/>
                <a:cs typeface="Times New Roman" panose="02020603050405020304" pitchFamily="18" charset="0"/>
              </a:rPr>
              <a:t>σ</a:t>
            </a:r>
            <a:r>
              <a:rPr lang="en-IN" dirty="0">
                <a:latin typeface="Times New Roman" panose="02020603050405020304" pitchFamily="18" charset="0"/>
                <a:cs typeface="Times New Roman" panose="02020603050405020304" pitchFamily="18" charset="0"/>
              </a:rPr>
              <a:t> daily​×252​×100</a:t>
            </a: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ii)</a:t>
            </a:r>
            <a:r>
              <a:rPr lang="en-US" b="1" dirty="0">
                <a:latin typeface="Times New Roman" pitchFamily="18" charset="0"/>
                <a:cs typeface="Times New Roman" pitchFamily="18" charset="0"/>
              </a:rPr>
              <a:t>Max Drawdown:</a:t>
            </a:r>
          </a:p>
          <a:p>
            <a:r>
              <a:rPr lang="en-US" dirty="0">
                <a:latin typeface="Times New Roman" panose="02020603050405020304" pitchFamily="18" charset="0"/>
                <a:cs typeface="Times New Roman" pitchFamily="18" charset="0"/>
              </a:rPr>
              <a:t>             Convert returns into cumulative growth (like portfolio value over time)</a:t>
            </a:r>
          </a:p>
          <a:p>
            <a:r>
              <a:rPr lang="en-US" dirty="0">
                <a:latin typeface="Times New Roman" panose="02020603050405020304" pitchFamily="18" charset="0"/>
                <a:cs typeface="Times New Roman" pitchFamily="18" charset="0"/>
              </a:rPr>
              <a:t>             Track highest value reached so far</a:t>
            </a:r>
          </a:p>
          <a:p>
            <a:r>
              <a:rPr lang="en-US" dirty="0">
                <a:latin typeface="Times New Roman" panose="02020603050405020304" pitchFamily="18" charset="0"/>
                <a:cs typeface="Times New Roman" pitchFamily="18" charset="0"/>
              </a:rPr>
              <a:t>             Measure how much it falls from that peak							</a:t>
            </a:r>
            <a:br>
              <a:rPr lang="en-US" dirty="0">
                <a:latin typeface="Times New Roman" panose="02020603050405020304" pitchFamily="18" charset="0"/>
                <a:cs typeface="Times New Roman" pitchFamily="18" charset="0"/>
              </a:rPr>
            </a:br>
            <a:r>
              <a:rPr lang="en-US" dirty="0">
                <a:latin typeface="Times New Roman" panose="02020603050405020304" pitchFamily="18" charset="0"/>
                <a:cs typeface="Times New Roman" pitchFamily="18" charset="0"/>
              </a:rPr>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Drawdown= Peak Value</a:t>
            </a:r>
            <a:r>
              <a:rPr lang="en-US" dirty="0"/>
              <a:t>​</a:t>
            </a:r>
            <a:r>
              <a:rPr lang="en-US" dirty="0">
                <a:latin typeface="Times New Roman" panose="02020603050405020304" pitchFamily="18" charset="0"/>
                <a:cs typeface="Times New Roman" panose="02020603050405020304" pitchFamily="18" charset="0"/>
              </a:rPr>
              <a:t> - Current Value </a:t>
            </a:r>
          </a:p>
          <a:p>
            <a:pPr lvl="1"/>
            <a:r>
              <a:rPr lang="en-US" dirty="0">
                <a:latin typeface="Times New Roman" panose="02020603050405020304" pitchFamily="18" charset="0"/>
                <a:cs typeface="Times New Roman" panose="02020603050405020304" pitchFamily="18" charset="0"/>
              </a:rPr>
              <a:t> iii)</a:t>
            </a:r>
            <a:r>
              <a:rPr lang="en-US" b="1" dirty="0">
                <a:latin typeface="Times New Roman" pitchFamily="18" charset="0"/>
                <a:cs typeface="Times New Roman" pitchFamily="18" charset="0"/>
              </a:rPr>
              <a:t>Sharpe ratio:</a:t>
            </a:r>
            <a:r>
              <a:rPr lang="en-IN" b="1" dirty="0"/>
              <a:t> </a:t>
            </a:r>
            <a:r>
              <a:rPr lang="en-IN" b="1" dirty="0">
                <a:latin typeface="Times New Roman" panose="02020603050405020304" pitchFamily="18" charset="0"/>
                <a:cs typeface="Times New Roman" panose="02020603050405020304" pitchFamily="18" charset="0"/>
              </a:rPr>
              <a:t>(Efficiency Score)</a:t>
            </a:r>
            <a:br>
              <a:rPr lang="en-US" b="1" dirty="0">
                <a:latin typeface="Times New Roman" pitchFamily="18" charset="0"/>
                <a:cs typeface="Times New Roman" pitchFamily="18" charset="0"/>
              </a:rPr>
            </a:br>
            <a:r>
              <a:rPr lang="en-US" dirty="0">
                <a:latin typeface="Times New Roman" pitchFamily="18" charset="0"/>
                <a:cs typeface="Times New Roman" pitchFamily="18" charset="0"/>
              </a:rPr>
              <a:t>                        Sharpe Ratio=Average Return/Volatility​×</a:t>
            </a:r>
            <a:r>
              <a:rPr lang="en-IN" dirty="0">
                <a:latin typeface="Times New Roman" panose="02020603050405020304" pitchFamily="18" charset="0"/>
                <a:cs typeface="Times New Roman" panose="02020603050405020304" pitchFamily="18" charset="0"/>
              </a:rPr>
              <a:t>√252</a:t>
            </a:r>
          </a:p>
          <a:p>
            <a:pPr lvl="1"/>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iv)</a:t>
            </a:r>
            <a:r>
              <a:rPr lang="en-US" b="1" dirty="0">
                <a:latin typeface="Times New Roman" pitchFamily="18" charset="0"/>
                <a:cs typeface="Times New Roman" pitchFamily="18" charset="0"/>
              </a:rPr>
              <a:t>Helps understand how risky the investment is. </a:t>
            </a:r>
          </a:p>
          <a:p>
            <a:endParaRPr lang="en-US" dirty="0">
              <a:latin typeface="Times New Roman" pitchFamily="18" charset="0"/>
              <a:cs typeface="Times New Roman"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347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39DD-A5DA-7851-A374-84F99DB746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57270C-B4FA-6F31-CDF7-6C80821F5740}"/>
              </a:ext>
            </a:extLst>
          </p:cNvPr>
          <p:cNvSpPr txBox="1"/>
          <p:nvPr/>
        </p:nvSpPr>
        <p:spPr>
          <a:xfrm>
            <a:off x="0" y="637695"/>
            <a:ext cx="413984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Implementation</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D2CD45B9-92DE-1864-3905-37ABD74EDFFF}"/>
              </a:ext>
            </a:extLst>
          </p:cNvPr>
          <p:cNvSpPr txBox="1"/>
          <p:nvPr/>
        </p:nvSpPr>
        <p:spPr>
          <a:xfrm>
            <a:off x="716413" y="1222470"/>
            <a:ext cx="10997051" cy="5632311"/>
          </a:xfrm>
          <a:prstGeom prst="rect">
            <a:avLst/>
          </a:prstGeom>
          <a:noFill/>
        </p:spPr>
        <p:txBody>
          <a:bodyPr wrap="square" rtlCol="0">
            <a:spAutoFit/>
          </a:bodyPr>
          <a:lstStyle/>
          <a:p>
            <a:r>
              <a:rPr lang="en-US" b="1" dirty="0">
                <a:latin typeface="Times New Roman" pitchFamily="18" charset="0"/>
                <a:cs typeface="Times New Roman" pitchFamily="18" charset="0"/>
              </a:rPr>
              <a:t>4) Momentum Analyst </a:t>
            </a:r>
          </a:p>
          <a:p>
            <a:pPr lvl="1"/>
            <a:r>
              <a:rPr lang="en-US" dirty="0">
                <a:latin typeface="Times New Roman" pitchFamily="18" charset="0"/>
                <a:cs typeface="Times New Roman" pitchFamily="18" charset="0"/>
              </a:rPr>
              <a:t>Focuses on price action and trend direction </a:t>
            </a:r>
          </a:p>
          <a:p>
            <a:pPr lvl="1"/>
            <a:r>
              <a:rPr lang="en-US" dirty="0">
                <a:latin typeface="Times New Roman" pitchFamily="18" charset="0"/>
                <a:cs typeface="Times New Roman" pitchFamily="18" charset="0"/>
              </a:rPr>
              <a:t>Uses percentage growth and moving averages to determine if an asset has strong upward or downward momentum</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Total Return:             </a:t>
            </a:r>
          </a:p>
          <a:p>
            <a:pPr lvl="1"/>
            <a:r>
              <a:rPr lang="en-US" dirty="0">
                <a:latin typeface="Times New Roman" panose="02020603050405020304" pitchFamily="18" charset="0"/>
                <a:cs typeface="Times New Roman" panose="02020603050405020304" pitchFamily="18" charset="0"/>
              </a:rPr>
              <a:t>	Measures the overall percentage change in the asset's price over the selected timeframe.</a:t>
            </a:r>
          </a:p>
          <a:p>
            <a:pPr lvl="1"/>
            <a:r>
              <a:rPr lang="en-US" dirty="0">
                <a:latin typeface="Times New Roman" panose="02020603050405020304" pitchFamily="18" charset="0"/>
                <a:cs typeface="Times New Roman" panose="02020603050405020304" pitchFamily="18" charset="0"/>
              </a:rPr>
              <a:t>	Return (%) = (Current Price − Initial Price) / Initial Price × 100</a:t>
            </a:r>
          </a:p>
          <a:p>
            <a:r>
              <a:rPr lang="en-US" dirty="0">
                <a:latin typeface="Times New Roman" panose="02020603050405020304" pitchFamily="18" charset="0"/>
                <a:cs typeface="Times New Roman" panose="02020603050405020304" pitchFamily="18" charset="0"/>
              </a:rPr>
              <a:t>	ii) </a:t>
            </a:r>
            <a:r>
              <a:rPr lang="en-US" b="1" dirty="0">
                <a:latin typeface="Times New Roman" panose="02020603050405020304" pitchFamily="18" charset="0"/>
                <a:cs typeface="Times New Roman" panose="02020603050405020304" pitchFamily="18" charset="0"/>
              </a:rPr>
              <a:t>Moving Average (e.g., 50-Day SMA):  </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Smooths out daily price fluctuations to identify the core trend.</a:t>
            </a:r>
          </a:p>
          <a:p>
            <a:pPr lvl="1"/>
            <a:r>
              <a:rPr lang="en-US" dirty="0">
                <a:latin typeface="Times New Roman" panose="02020603050405020304" pitchFamily="18" charset="0"/>
                <a:cs typeface="Times New Roman" panose="02020603050405020304" pitchFamily="18" charset="0"/>
              </a:rPr>
              <a:t>	SMA = Sum of Closing Prices over </a:t>
            </a:r>
            <a:r>
              <a:rPr lang="en-US" i="1" dirty="0">
                <a:latin typeface="Times New Roman" panose="02020603050405020304" pitchFamily="18" charset="0"/>
                <a:cs typeface="Times New Roman" panose="02020603050405020304" pitchFamily="18" charset="0"/>
              </a:rPr>
              <a:t> N </a:t>
            </a:r>
            <a:r>
              <a:rPr lang="en-US" dirty="0">
                <a:latin typeface="Times New Roman" panose="02020603050405020304" pitchFamily="18" charset="0"/>
                <a:cs typeface="Times New Roman" panose="02020603050405020304" pitchFamily="18" charset="0"/>
              </a:rPr>
              <a:t>days/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days</a:t>
            </a:r>
          </a:p>
          <a:p>
            <a:r>
              <a:rPr lang="en-US" b="1" dirty="0">
                <a:latin typeface="Times New Roman" panose="02020603050405020304" pitchFamily="18" charset="0"/>
                <a:cs typeface="Times New Roman" panose="02020603050405020304" pitchFamily="18" charset="0"/>
              </a:rPr>
              <a:t>5) News Sentiment Analyst </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Focuses on short-term market catalysts and qualitative data.</a:t>
            </a:r>
          </a:p>
          <a:p>
            <a:pPr lvl="1"/>
            <a:r>
              <a:rPr lang="en-US" dirty="0">
                <a:latin typeface="Times New Roman" panose="02020603050405020304" pitchFamily="18" charset="0"/>
                <a:cs typeface="Times New Roman" panose="02020603050405020304" pitchFamily="18" charset="0"/>
              </a:rPr>
              <a:t>Evaluates recent news headlines to determine if there is an immediate "Boom" (positive catalyst) or a negative/neutral market outlook.</a:t>
            </a:r>
          </a:p>
          <a:p>
            <a:pPr lvl="1"/>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Natural Language Processing (NLP): </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Unlike the other agents, this agent relies on text analysis rather than pure math.</a:t>
            </a:r>
          </a:p>
          <a:p>
            <a:pPr lvl="1"/>
            <a:r>
              <a:rPr lang="en-US" dirty="0">
                <a:latin typeface="Times New Roman" panose="02020603050405020304" pitchFamily="18" charset="0"/>
                <a:cs typeface="Times New Roman" panose="02020603050405020304" pitchFamily="18" charset="0"/>
              </a:rPr>
              <a:t>ii) </a:t>
            </a:r>
            <a:r>
              <a:rPr lang="en-US" b="1" dirty="0">
                <a:latin typeface="Times New Roman" panose="02020603050405020304" pitchFamily="18" charset="0"/>
                <a:cs typeface="Times New Roman" panose="02020603050405020304" pitchFamily="18" charset="0"/>
              </a:rPr>
              <a:t>Execution Condition: </a:t>
            </a:r>
            <a:r>
              <a:rPr lang="en-US" dirty="0">
                <a:latin typeface="Times New Roman" panose="02020603050405020304" pitchFamily="18" charset="0"/>
                <a:cs typeface="Times New Roman" panose="02020603050405020304" pitchFamily="18" charset="0"/>
              </a:rPr>
              <a:t>            </a:t>
            </a:r>
          </a:p>
          <a:p>
            <a:pPr lvl="2"/>
            <a:r>
              <a:rPr lang="en-US" dirty="0">
                <a:latin typeface="Times New Roman" panose="02020603050405020304" pitchFamily="18" charset="0"/>
                <a:cs typeface="Times New Roman" panose="02020603050405020304" pitchFamily="18" charset="0"/>
              </a:rPr>
              <a:t>Only activated during short-term (e.g., 6-Month) investment strategies where daily news heavily influences price action. It is intentionally ignored for long-term (3-Year) strategies to filter out market noise.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936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6B39A3-0526-363E-94F2-7C752635ABD4}"/>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1BC53AF0-F98D-548D-6882-0D1DEA93B00B}"/>
              </a:ext>
            </a:extLst>
          </p:cNvPr>
          <p:cNvSpPr txBox="1"/>
          <p:nvPr/>
        </p:nvSpPr>
        <p:spPr>
          <a:xfrm>
            <a:off x="4193628" y="6296223"/>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1: Stock Performance &amp; Statistics</a:t>
            </a:r>
          </a:p>
        </p:txBody>
      </p:sp>
      <p:pic>
        <p:nvPicPr>
          <p:cNvPr id="6" name="Picture 5">
            <a:extLst>
              <a:ext uri="{FF2B5EF4-FFF2-40B4-BE49-F238E27FC236}">
                <a16:creationId xmlns:a16="http://schemas.microsoft.com/office/drawing/2014/main" id="{43824C58-6797-14E4-436C-51F1129FC5BB}"/>
              </a:ext>
            </a:extLst>
          </p:cNvPr>
          <p:cNvPicPr>
            <a:picLocks noChangeAspect="1"/>
          </p:cNvPicPr>
          <p:nvPr/>
        </p:nvPicPr>
        <p:blipFill>
          <a:blip r:embed="rId2"/>
          <a:stretch>
            <a:fillRect/>
          </a:stretch>
        </p:blipFill>
        <p:spPr>
          <a:xfrm>
            <a:off x="1387812" y="1648030"/>
            <a:ext cx="9416375" cy="4361963"/>
          </a:xfrm>
          <a:prstGeom prst="rect">
            <a:avLst/>
          </a:prstGeom>
        </p:spPr>
      </p:pic>
    </p:spTree>
    <p:extLst>
      <p:ext uri="{BB962C8B-B14F-4D97-AF65-F5344CB8AC3E}">
        <p14:creationId xmlns:p14="http://schemas.microsoft.com/office/powerpoint/2010/main" val="218892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06D66-4231-1B95-F588-467600B753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3B86DD-9537-AD0D-6498-F7F0B3FBAE21}"/>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41500EDC-BD15-071A-AE5D-F4FEF1FC6E8C}"/>
              </a:ext>
            </a:extLst>
          </p:cNvPr>
          <p:cNvSpPr txBox="1"/>
          <p:nvPr/>
        </p:nvSpPr>
        <p:spPr>
          <a:xfrm>
            <a:off x="3847103" y="5992213"/>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2: Stock Price Momentum Line Chart </a:t>
            </a:r>
          </a:p>
        </p:txBody>
      </p:sp>
      <p:pic>
        <p:nvPicPr>
          <p:cNvPr id="5" name="Picture 4">
            <a:extLst>
              <a:ext uri="{FF2B5EF4-FFF2-40B4-BE49-F238E27FC236}">
                <a16:creationId xmlns:a16="http://schemas.microsoft.com/office/drawing/2014/main" id="{27CFE1ED-AFE7-35E3-22CD-3D1C5A5A1779}"/>
              </a:ext>
            </a:extLst>
          </p:cNvPr>
          <p:cNvPicPr>
            <a:picLocks noChangeAspect="1"/>
          </p:cNvPicPr>
          <p:nvPr/>
        </p:nvPicPr>
        <p:blipFill>
          <a:blip r:embed="rId2"/>
          <a:stretch>
            <a:fillRect/>
          </a:stretch>
        </p:blipFill>
        <p:spPr>
          <a:xfrm>
            <a:off x="1229868" y="1698573"/>
            <a:ext cx="10043160" cy="4034715"/>
          </a:xfrm>
          <a:prstGeom prst="rect">
            <a:avLst/>
          </a:prstGeom>
        </p:spPr>
      </p:pic>
    </p:spTree>
    <p:extLst>
      <p:ext uri="{BB962C8B-B14F-4D97-AF65-F5344CB8AC3E}">
        <p14:creationId xmlns:p14="http://schemas.microsoft.com/office/powerpoint/2010/main" val="501026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DCC1F-31EE-3DAF-5F3A-0A6C471DB7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8A4BB0-C808-2976-844B-AF0A10A1D98D}"/>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1FC6105B-6E32-FF3E-69F5-C6EE4A6E9F43}"/>
              </a:ext>
            </a:extLst>
          </p:cNvPr>
          <p:cNvSpPr txBox="1"/>
          <p:nvPr/>
        </p:nvSpPr>
        <p:spPr>
          <a:xfrm>
            <a:off x="3854010" y="6241928"/>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3: News Data</a:t>
            </a:r>
          </a:p>
        </p:txBody>
      </p:sp>
      <p:pic>
        <p:nvPicPr>
          <p:cNvPr id="5" name="Picture 4">
            <a:extLst>
              <a:ext uri="{FF2B5EF4-FFF2-40B4-BE49-F238E27FC236}">
                <a16:creationId xmlns:a16="http://schemas.microsoft.com/office/drawing/2014/main" id="{159329A3-F140-AE4A-1DDA-E64B75DF856B}"/>
              </a:ext>
            </a:extLst>
          </p:cNvPr>
          <p:cNvPicPr>
            <a:picLocks noChangeAspect="1"/>
          </p:cNvPicPr>
          <p:nvPr/>
        </p:nvPicPr>
        <p:blipFill>
          <a:blip r:embed="rId2"/>
          <a:stretch>
            <a:fillRect/>
          </a:stretch>
        </p:blipFill>
        <p:spPr>
          <a:xfrm>
            <a:off x="1081952" y="1746504"/>
            <a:ext cx="10339504" cy="4059935"/>
          </a:xfrm>
          <a:prstGeom prst="rect">
            <a:avLst/>
          </a:prstGeom>
        </p:spPr>
      </p:pic>
    </p:spTree>
    <p:extLst>
      <p:ext uri="{BB962C8B-B14F-4D97-AF65-F5344CB8AC3E}">
        <p14:creationId xmlns:p14="http://schemas.microsoft.com/office/powerpoint/2010/main" val="3924021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7E330-DD5C-214C-54B6-B95E3F8A3A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498545-5C9F-318F-80A7-3004D71FA0FD}"/>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936221CC-9D97-E241-84F5-5ABA8D08BEE2}"/>
              </a:ext>
            </a:extLst>
          </p:cNvPr>
          <p:cNvSpPr txBox="1"/>
          <p:nvPr/>
        </p:nvSpPr>
        <p:spPr>
          <a:xfrm>
            <a:off x="4469525" y="6360586"/>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4: Individual Analyst Reports</a:t>
            </a:r>
          </a:p>
        </p:txBody>
      </p:sp>
      <p:pic>
        <p:nvPicPr>
          <p:cNvPr id="6" name="Picture 5">
            <a:extLst>
              <a:ext uri="{FF2B5EF4-FFF2-40B4-BE49-F238E27FC236}">
                <a16:creationId xmlns:a16="http://schemas.microsoft.com/office/drawing/2014/main" id="{807501A8-811F-4167-44F2-0940CCBE4A46}"/>
              </a:ext>
            </a:extLst>
          </p:cNvPr>
          <p:cNvPicPr>
            <a:picLocks noChangeAspect="1"/>
          </p:cNvPicPr>
          <p:nvPr/>
        </p:nvPicPr>
        <p:blipFill>
          <a:blip r:embed="rId2"/>
          <a:stretch>
            <a:fillRect/>
          </a:stretch>
        </p:blipFill>
        <p:spPr>
          <a:xfrm>
            <a:off x="996696" y="1721457"/>
            <a:ext cx="10856976" cy="4288536"/>
          </a:xfrm>
          <a:prstGeom prst="rect">
            <a:avLst/>
          </a:prstGeom>
        </p:spPr>
      </p:pic>
    </p:spTree>
    <p:extLst>
      <p:ext uri="{BB962C8B-B14F-4D97-AF65-F5344CB8AC3E}">
        <p14:creationId xmlns:p14="http://schemas.microsoft.com/office/powerpoint/2010/main" val="3679788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485524-13B5-BD80-9B71-2644FF72F7F7}"/>
              </a:ext>
            </a:extLst>
          </p:cNvPr>
          <p:cNvPicPr>
            <a:picLocks noChangeAspect="1"/>
          </p:cNvPicPr>
          <p:nvPr/>
        </p:nvPicPr>
        <p:blipFill>
          <a:blip r:embed="rId2"/>
          <a:stretch>
            <a:fillRect/>
          </a:stretch>
        </p:blipFill>
        <p:spPr>
          <a:xfrm>
            <a:off x="1199653" y="1493342"/>
            <a:ext cx="9507241" cy="4516651"/>
          </a:xfrm>
          <a:prstGeom prst="rect">
            <a:avLst/>
          </a:prstGeom>
        </p:spPr>
      </p:pic>
      <p:sp>
        <p:nvSpPr>
          <p:cNvPr id="4" name="TextBox 3">
            <a:extLst>
              <a:ext uri="{FF2B5EF4-FFF2-40B4-BE49-F238E27FC236}">
                <a16:creationId xmlns:a16="http://schemas.microsoft.com/office/drawing/2014/main" id="{9CE4733B-E67D-2DC0-C18C-FFA263E79164}"/>
              </a:ext>
            </a:extLst>
          </p:cNvPr>
          <p:cNvSpPr txBox="1"/>
          <p:nvPr/>
        </p:nvSpPr>
        <p:spPr>
          <a:xfrm>
            <a:off x="0" y="848007"/>
            <a:ext cx="2399306"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a:t>
            </a:r>
            <a:endParaRPr lang="en-IN" sz="2800" b="1" dirty="0">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D238992A-FF43-BB66-1022-9D52F532E89B}"/>
              </a:ext>
            </a:extLst>
          </p:cNvPr>
          <p:cNvSpPr txBox="1"/>
          <p:nvPr/>
        </p:nvSpPr>
        <p:spPr>
          <a:xfrm>
            <a:off x="3573518" y="6272766"/>
            <a:ext cx="5044964" cy="338554"/>
          </a:xfrm>
          <a:prstGeom prst="rect">
            <a:avLst/>
          </a:prstGeom>
          <a:noFill/>
        </p:spPr>
        <p:txBody>
          <a:bodyPr wrap="square" rtlCol="0">
            <a:spAutoFit/>
          </a:bodyPr>
          <a:lstStyle/>
          <a:p>
            <a:pPr algn="ctr"/>
            <a:r>
              <a:rPr lang="en-IN" sz="1600" b="1" dirty="0">
                <a:latin typeface="Times New Roman" pitchFamily="18" charset="0"/>
                <a:cs typeface="Times New Roman" pitchFamily="18" charset="0"/>
              </a:rPr>
              <a:t>fig 5: CIO Final Verdict</a:t>
            </a:r>
          </a:p>
        </p:txBody>
      </p:sp>
    </p:spTree>
    <p:extLst>
      <p:ext uri="{BB962C8B-B14F-4D97-AF65-F5344CB8AC3E}">
        <p14:creationId xmlns:p14="http://schemas.microsoft.com/office/powerpoint/2010/main" val="974966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FB026-A537-E675-8836-DE59465FE8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893D79-C67D-C3FB-EBA1-7F11FEFB6FE2}"/>
              </a:ext>
            </a:extLst>
          </p:cNvPr>
          <p:cNvSpPr txBox="1"/>
          <p:nvPr/>
        </p:nvSpPr>
        <p:spPr>
          <a:xfrm>
            <a:off x="-91440" y="820575"/>
            <a:ext cx="414581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Comparison</a:t>
            </a:r>
            <a:endParaRPr lang="en-IN" sz="2800" b="1"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3760B9F7-1952-02AA-FE60-AB76B7A8E475}"/>
              </a:ext>
            </a:extLst>
          </p:cNvPr>
          <p:cNvGraphicFramePr>
            <a:graphicFrameLocks noGrp="1"/>
          </p:cNvGraphicFramePr>
          <p:nvPr>
            <p:extLst>
              <p:ext uri="{D42A27DB-BD31-4B8C-83A1-F6EECF244321}">
                <p14:modId xmlns:p14="http://schemas.microsoft.com/office/powerpoint/2010/main" val="3653354237"/>
              </p:ext>
            </p:extLst>
          </p:nvPr>
        </p:nvGraphicFramePr>
        <p:xfrm>
          <a:off x="877824" y="1508760"/>
          <a:ext cx="9079992" cy="4960655"/>
        </p:xfrm>
        <a:graphic>
          <a:graphicData uri="http://schemas.openxmlformats.org/drawingml/2006/table">
            <a:tbl>
              <a:tblPr/>
              <a:tblGrid>
                <a:gridCol w="4539996">
                  <a:extLst>
                    <a:ext uri="{9D8B030D-6E8A-4147-A177-3AD203B41FA5}">
                      <a16:colId xmlns:a16="http://schemas.microsoft.com/office/drawing/2014/main" val="3645578522"/>
                    </a:ext>
                  </a:extLst>
                </a:gridCol>
                <a:gridCol w="4539996">
                  <a:extLst>
                    <a:ext uri="{9D8B030D-6E8A-4147-A177-3AD203B41FA5}">
                      <a16:colId xmlns:a16="http://schemas.microsoft.com/office/drawing/2014/main" val="4079669924"/>
                    </a:ext>
                  </a:extLst>
                </a:gridCol>
              </a:tblGrid>
              <a:tr h="569716">
                <a:tc>
                  <a:txBody>
                    <a:bodyPr/>
                    <a:lstStyle/>
                    <a:p>
                      <a:pPr>
                        <a:buNone/>
                      </a:pPr>
                      <a:r>
                        <a:rPr lang="en-US" sz="1600" b="1" dirty="0">
                          <a:latin typeface="Times New Roman" panose="02020603050405020304" pitchFamily="18" charset="0"/>
                          <a:cs typeface="Times New Roman" panose="02020603050405020304" pitchFamily="18" charset="0"/>
                        </a:rPr>
                        <a:t>Limitations in Existing Systems (For Investors)</a:t>
                      </a:r>
                      <a:endParaRPr lang="en-US" sz="1600" dirty="0">
                        <a:latin typeface="Times New Roman" panose="02020603050405020304" pitchFamily="18" charset="0"/>
                        <a:cs typeface="Times New Roman" panose="02020603050405020304" pitchFamily="18" charset="0"/>
                      </a:endParaRP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latin typeface="Times New Roman" panose="02020603050405020304" pitchFamily="18" charset="0"/>
                          <a:cs typeface="Times New Roman" panose="02020603050405020304" pitchFamily="18" charset="0"/>
                        </a:rPr>
                        <a:t>How Proposed System Improves Investment Decisions</a:t>
                      </a:r>
                      <a:endParaRPr lang="en-US" sz="1600" dirty="0">
                        <a:latin typeface="Times New Roman" panose="02020603050405020304" pitchFamily="18" charset="0"/>
                        <a:cs typeface="Times New Roman" panose="02020603050405020304" pitchFamily="18" charset="0"/>
                      </a:endParaRP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159536"/>
                  </a:ext>
                </a:extLst>
              </a:tr>
              <a:tr h="569716">
                <a:tc>
                  <a:txBody>
                    <a:bodyPr/>
                    <a:lstStyle/>
                    <a:p>
                      <a:pPr>
                        <a:buNone/>
                      </a:pPr>
                      <a:r>
                        <a:rPr lang="en-US" sz="1600">
                          <a:latin typeface="Times New Roman" panose="02020603050405020304" pitchFamily="18" charset="0"/>
                          <a:cs typeface="Times New Roman" panose="02020603050405020304" pitchFamily="18" charset="0"/>
                        </a:rPr>
                        <a:t>Focus mainly on prediction, not clear decision guidance</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Provides clear final investment decision (best stock selection)</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9418180"/>
                  </a:ext>
                </a:extLst>
              </a:tr>
              <a:tr h="538747">
                <a:tc>
                  <a:txBody>
                    <a:bodyPr/>
                    <a:lstStyle/>
                    <a:p>
                      <a:pPr>
                        <a:buNone/>
                      </a:pPr>
                      <a:r>
                        <a:rPr lang="en-US" sz="1600">
                          <a:latin typeface="Times New Roman" panose="02020603050405020304" pitchFamily="18" charset="0"/>
                          <a:cs typeface="Times New Roman" panose="02020603050405020304" pitchFamily="18" charset="0"/>
                        </a:rPr>
                        <a:t>Outputs are confusing (charts, indicators, signals)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Gives simple, easy-to-understand insights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8164883"/>
                  </a:ext>
                </a:extLst>
              </a:tr>
              <a:tr h="538899">
                <a:tc>
                  <a:txBody>
                    <a:bodyPr/>
                    <a:lstStyle/>
                    <a:p>
                      <a:pPr>
                        <a:buNone/>
                      </a:pPr>
                      <a:r>
                        <a:rPr lang="en-US" sz="1600">
                          <a:latin typeface="Times New Roman" panose="02020603050405020304" pitchFamily="18" charset="0"/>
                          <a:cs typeface="Times New Roman" panose="02020603050405020304" pitchFamily="18" charset="0"/>
                        </a:rPr>
                        <a:t>No clear explanation why a stock is good or bad</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Explains using Value, Risk, and Momentum analysis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1879205"/>
                  </a:ext>
                </a:extLst>
              </a:tr>
              <a:tr h="569716">
                <a:tc>
                  <a:txBody>
                    <a:bodyPr/>
                    <a:lstStyle/>
                    <a:p>
                      <a:pPr>
                        <a:buNone/>
                      </a:pPr>
                      <a:r>
                        <a:rPr lang="en-US" sz="1600">
                          <a:latin typeface="Times New Roman" panose="02020603050405020304" pitchFamily="18" charset="0"/>
                          <a:cs typeface="Times New Roman" panose="02020603050405020304" pitchFamily="18" charset="0"/>
                        </a:rPr>
                        <a:t>Difficult for beginners to decide (buy/sell confusion)</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Simplifies decision-making with clear recommendations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9711583"/>
                  </a:ext>
                </a:extLst>
              </a:tr>
              <a:tr h="320829">
                <a:tc>
                  <a:txBody>
                    <a:bodyPr/>
                    <a:lstStyle/>
                    <a:p>
                      <a:pPr>
                        <a:buNone/>
                      </a:pPr>
                      <a:r>
                        <a:rPr lang="en-US" sz="1600">
                          <a:latin typeface="Times New Roman" panose="02020603050405020304" pitchFamily="18" charset="0"/>
                          <a:cs typeface="Times New Roman" panose="02020603050405020304" pitchFamily="18" charset="0"/>
                        </a:rPr>
                        <a:t>High risk due to black-box predictions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sv-SE" sz="1600" dirty="0">
                          <a:latin typeface="Times New Roman" panose="02020603050405020304" pitchFamily="18" charset="0"/>
                          <a:cs typeface="Times New Roman" panose="02020603050405020304" pitchFamily="18" charset="0"/>
                        </a:rPr>
                        <a:t>Transparent analysis reduces blind decision risk</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9056151"/>
                  </a:ext>
                </a:extLst>
              </a:tr>
              <a:tr h="320829">
                <a:tc>
                  <a:txBody>
                    <a:bodyPr/>
                    <a:lstStyle/>
                    <a:p>
                      <a:pPr>
                        <a:buNone/>
                      </a:pPr>
                      <a:r>
                        <a:rPr lang="en-US" sz="1600">
                          <a:latin typeface="Times New Roman" panose="02020603050405020304" pitchFamily="18" charset="0"/>
                          <a:cs typeface="Times New Roman" panose="02020603050405020304" pitchFamily="18" charset="0"/>
                        </a:rPr>
                        <a:t>Requires expert knowledge to interpret data</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No expertise needed, beginner-friendly system</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1937035"/>
                  </a:ext>
                </a:extLst>
              </a:tr>
              <a:tr h="320829">
                <a:tc>
                  <a:txBody>
                    <a:bodyPr/>
                    <a:lstStyle/>
                    <a:p>
                      <a:pPr>
                        <a:buNone/>
                      </a:pPr>
                      <a:r>
                        <a:rPr lang="en-US" sz="1600">
                          <a:latin typeface="Times New Roman" panose="02020603050405020304" pitchFamily="18" charset="0"/>
                          <a:cs typeface="Times New Roman" panose="02020603050405020304" pitchFamily="18" charset="0"/>
                        </a:rPr>
                        <a:t>Time-consuming analysis of multiple stocks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One-click comparison of multiple stocks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4674904"/>
                  </a:ext>
                </a:extLst>
              </a:tr>
              <a:tr h="320829">
                <a:tc>
                  <a:txBody>
                    <a:bodyPr/>
                    <a:lstStyle/>
                    <a:p>
                      <a:pPr>
                        <a:buNone/>
                      </a:pPr>
                      <a:r>
                        <a:rPr lang="en-US" sz="1600">
                          <a:latin typeface="Times New Roman" panose="02020603050405020304" pitchFamily="18" charset="0"/>
                          <a:cs typeface="Times New Roman" panose="02020603050405020304" pitchFamily="18" charset="0"/>
                        </a:rPr>
                        <a:t>No combined view of risk + return + valuation</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Provides all factors together in one analysis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9041385"/>
                  </a:ext>
                </a:extLst>
              </a:tr>
              <a:tr h="569716">
                <a:tc>
                  <a:txBody>
                    <a:bodyPr/>
                    <a:lstStyle/>
                    <a:p>
                      <a:pPr>
                        <a:buNone/>
                      </a:pPr>
                      <a:r>
                        <a:rPr lang="en-US" sz="1600">
                          <a:latin typeface="Times New Roman" panose="02020603050405020304" pitchFamily="18" charset="0"/>
                          <a:cs typeface="Times New Roman" panose="02020603050405020304" pitchFamily="18" charset="0"/>
                        </a:rPr>
                        <a:t>Hard to compare multiple stocks effectively</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Direct comparison with best-performing asset identified</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3888860"/>
                  </a:ext>
                </a:extLst>
              </a:tr>
              <a:tr h="320829">
                <a:tc>
                  <a:txBody>
                    <a:bodyPr/>
                    <a:lstStyle/>
                    <a:p>
                      <a:pPr>
                        <a:buNone/>
                      </a:pPr>
                      <a:r>
                        <a:rPr lang="en-US" sz="1600">
                          <a:latin typeface="Times New Roman" panose="02020603050405020304" pitchFamily="18" charset="0"/>
                          <a:cs typeface="Times New Roman" panose="02020603050405020304" pitchFamily="18" charset="0"/>
                        </a:rPr>
                        <a:t>No summarized report for decision-making</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Generates final report with complete insights</a:t>
                      </a:r>
                    </a:p>
                  </a:txBody>
                  <a:tcPr marL="70485" marR="70485" marT="35242" marB="352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4279650"/>
                  </a:ext>
                </a:extLst>
              </a:tr>
            </a:tbl>
          </a:graphicData>
        </a:graphic>
      </p:graphicFrame>
    </p:spTree>
    <p:extLst>
      <p:ext uri="{BB962C8B-B14F-4D97-AF65-F5344CB8AC3E}">
        <p14:creationId xmlns:p14="http://schemas.microsoft.com/office/powerpoint/2010/main" val="1399304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92A9-5AE2-BAE6-3582-A327C1A007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C8C597-4362-3D3D-00A3-06E7B993DA43}"/>
              </a:ext>
            </a:extLst>
          </p:cNvPr>
          <p:cNvSpPr txBox="1"/>
          <p:nvPr/>
        </p:nvSpPr>
        <p:spPr>
          <a:xfrm>
            <a:off x="-91440" y="820575"/>
            <a:ext cx="414581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 Analysis</a:t>
            </a:r>
            <a:endParaRPr lang="en-IN" sz="2800" b="1" dirty="0">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FB5D6F7D-04C7-3EC3-E01D-055DE85D9022}"/>
              </a:ext>
            </a:extLst>
          </p:cNvPr>
          <p:cNvSpPr txBox="1"/>
          <p:nvPr/>
        </p:nvSpPr>
        <p:spPr>
          <a:xfrm>
            <a:off x="623031" y="1607228"/>
            <a:ext cx="9537761" cy="2585323"/>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performance and reliability of the proposed multi-agent framework were validated through a comprehensive evaluation involving 50 independent test cases. Each test case consisted of 3–5 different stock tickers analyzed under both 6-month and 3-year timeframes, covering varied market sectors.</a:t>
            </a:r>
          </a:p>
          <a:p>
            <a:r>
              <a:rPr lang="en-US" dirty="0">
                <a:latin typeface="Times New Roman" panose="02020603050405020304" pitchFamily="18" charset="0"/>
                <a:cs typeface="Times New Roman" panose="02020603050405020304" pitchFamily="18" charset="0"/>
              </a:rPr>
              <a:t>All financial metrics (Return, Volatility, Sharpe Ratio, Maximum Drawdown, and P/E Ratio) were cross-verified against official Yahoo Finance data and manual calculations, achieving 100% accuracy. The </a:t>
            </a:r>
            <a:r>
              <a:rPr lang="en-US" dirty="0" err="1">
                <a:latin typeface="Times New Roman" panose="02020603050405020304" pitchFamily="18" charset="0"/>
                <a:cs typeface="Times New Roman" panose="02020603050405020304" pitchFamily="18" charset="0"/>
              </a:rPr>
              <a:t>LangChain</a:t>
            </a:r>
            <a:r>
              <a:rPr lang="en-US" dirty="0">
                <a:latin typeface="Times New Roman" panose="02020603050405020304" pitchFamily="18" charset="0"/>
                <a:cs typeface="Times New Roman" panose="02020603050405020304" pitchFamily="18" charset="0"/>
              </a:rPr>
              <a:t> tool-calling mechanism successfully invoked all required specialist agents in 100% of the executions. The Chief Investment Officer (CIO) agent adhered to the strict Markdown output template in 98% of cases.</a:t>
            </a:r>
          </a:p>
        </p:txBody>
      </p:sp>
    </p:spTree>
    <p:extLst>
      <p:ext uri="{BB962C8B-B14F-4D97-AF65-F5344CB8AC3E}">
        <p14:creationId xmlns:p14="http://schemas.microsoft.com/office/powerpoint/2010/main" val="3547038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48FEE8-182F-7BD2-E072-B67122FF95EB}"/>
              </a:ext>
            </a:extLst>
          </p:cNvPr>
          <p:cNvSpPr txBox="1"/>
          <p:nvPr/>
        </p:nvSpPr>
        <p:spPr>
          <a:xfrm>
            <a:off x="-91440" y="820575"/>
            <a:ext cx="414581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 Analysis</a:t>
            </a:r>
            <a:endParaRPr lang="en-IN" sz="2800"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7DFDCEA8-6DEB-4262-F788-D6C794A43A86}"/>
              </a:ext>
            </a:extLst>
          </p:cNvPr>
          <p:cNvPicPr>
            <a:picLocks noChangeAspect="1"/>
          </p:cNvPicPr>
          <p:nvPr/>
        </p:nvPicPr>
        <p:blipFill>
          <a:blip r:embed="rId2"/>
          <a:stretch>
            <a:fillRect/>
          </a:stretch>
        </p:blipFill>
        <p:spPr>
          <a:xfrm>
            <a:off x="799338" y="1572768"/>
            <a:ext cx="3682746" cy="4910328"/>
          </a:xfrm>
          <a:prstGeom prst="rect">
            <a:avLst/>
          </a:prstGeom>
        </p:spPr>
      </p:pic>
      <p:sp>
        <p:nvSpPr>
          <p:cNvPr id="5" name="TextBox 4">
            <a:extLst>
              <a:ext uri="{FF2B5EF4-FFF2-40B4-BE49-F238E27FC236}">
                <a16:creationId xmlns:a16="http://schemas.microsoft.com/office/drawing/2014/main" id="{2B88E966-4F49-4B0A-6713-601D9CCC0700}"/>
              </a:ext>
            </a:extLst>
          </p:cNvPr>
          <p:cNvSpPr txBox="1"/>
          <p:nvPr/>
        </p:nvSpPr>
        <p:spPr>
          <a:xfrm>
            <a:off x="4900422" y="1572768"/>
            <a:ext cx="6492240"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 Human-in-the-Loop (HITL) evaluation was conducted to assess the quality and practical usefulness of the final recommendations. The Expert, Prof. Jai Rastogi, manually reviewed all 50 CIO verdicts for logical consistency with the input metrics and individual agent reports. Out of 50 cases, 47 recommendations (94%) were rated as logically sound, coherent, and actionable. The three cases with minor coherence issues occurred under highly volatile and ambiguous market conditions and were not attributed to system failures.</a:t>
            </a:r>
          </a:p>
          <a:p>
            <a:endParaRPr lang="en-IN" dirty="0"/>
          </a:p>
        </p:txBody>
      </p:sp>
    </p:spTree>
    <p:extLst>
      <p:ext uri="{BB962C8B-B14F-4D97-AF65-F5344CB8AC3E}">
        <p14:creationId xmlns:p14="http://schemas.microsoft.com/office/powerpoint/2010/main" val="1173738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BEBC2-8A6C-76F0-4799-49833DB40C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EDBB53-7FA0-757D-B30E-076BB41414AC}"/>
              </a:ext>
            </a:extLst>
          </p:cNvPr>
          <p:cNvSpPr txBox="1"/>
          <p:nvPr/>
        </p:nvSpPr>
        <p:spPr>
          <a:xfrm>
            <a:off x="-91440" y="820575"/>
            <a:ext cx="4145810" cy="584775"/>
          </a:xfrm>
          <a:prstGeom prst="rect">
            <a:avLst/>
          </a:prstGeom>
          <a:noFill/>
        </p:spPr>
        <p:txBody>
          <a:bodyPr wrap="square" rtlCol="0">
            <a:spAutoFit/>
          </a:bodyPr>
          <a:lstStyle/>
          <a:p>
            <a:pPr marL="457200" indent="-457200" algn="ctr">
              <a:buFont typeface="Wingdings" panose="05000000000000000000" pitchFamily="2" charset="2"/>
              <a:buChar char="q"/>
            </a:pPr>
            <a:r>
              <a:rPr lang="en-IN" sz="3200" b="1" dirty="0">
                <a:latin typeface="Times New Roman" pitchFamily="18" charset="0"/>
                <a:cs typeface="Times New Roman" pitchFamily="18" charset="0"/>
              </a:rPr>
              <a:t>Result Analysis</a:t>
            </a:r>
            <a:endParaRPr lang="en-IN" sz="2800" b="1"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0B2C9879-F0D3-F8DB-2DAC-DCC84FC3679E}"/>
              </a:ext>
            </a:extLst>
          </p:cNvPr>
          <p:cNvGraphicFramePr>
            <a:graphicFrameLocks noGrp="1"/>
          </p:cNvGraphicFramePr>
          <p:nvPr>
            <p:extLst>
              <p:ext uri="{D42A27DB-BD31-4B8C-83A1-F6EECF244321}">
                <p14:modId xmlns:p14="http://schemas.microsoft.com/office/powerpoint/2010/main" val="937851296"/>
              </p:ext>
            </p:extLst>
          </p:nvPr>
        </p:nvGraphicFramePr>
        <p:xfrm>
          <a:off x="1371600" y="1555969"/>
          <a:ext cx="9493281" cy="3307573"/>
        </p:xfrm>
        <a:graphic>
          <a:graphicData uri="http://schemas.openxmlformats.org/drawingml/2006/table">
            <a:tbl>
              <a:tblPr/>
              <a:tblGrid>
                <a:gridCol w="3134773">
                  <a:extLst>
                    <a:ext uri="{9D8B030D-6E8A-4147-A177-3AD203B41FA5}">
                      <a16:colId xmlns:a16="http://schemas.microsoft.com/office/drawing/2014/main" val="3430496340"/>
                    </a:ext>
                  </a:extLst>
                </a:gridCol>
                <a:gridCol w="3179254">
                  <a:extLst>
                    <a:ext uri="{9D8B030D-6E8A-4147-A177-3AD203B41FA5}">
                      <a16:colId xmlns:a16="http://schemas.microsoft.com/office/drawing/2014/main" val="914341225"/>
                    </a:ext>
                  </a:extLst>
                </a:gridCol>
                <a:gridCol w="3179254">
                  <a:extLst>
                    <a:ext uri="{9D8B030D-6E8A-4147-A177-3AD203B41FA5}">
                      <a16:colId xmlns:a16="http://schemas.microsoft.com/office/drawing/2014/main" val="1780397291"/>
                    </a:ext>
                  </a:extLst>
                </a:gridCol>
              </a:tblGrid>
              <a:tr h="369956">
                <a:tc>
                  <a:txBody>
                    <a:bodyPr/>
                    <a:lstStyle/>
                    <a:p>
                      <a:pPr>
                        <a:buNone/>
                      </a:pPr>
                      <a:r>
                        <a:rPr lang="en-IN" dirty="0">
                          <a:latin typeface="Times New Roman" panose="02020603050405020304" pitchFamily="18" charset="0"/>
                          <a:cs typeface="Times New Roman" panose="02020603050405020304" pitchFamily="18"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Measured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Evaluation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021473"/>
                  </a:ext>
                </a:extLst>
              </a:tr>
              <a:tr h="597003">
                <a:tc>
                  <a:txBody>
                    <a:bodyPr/>
                    <a:lstStyle/>
                    <a:p>
                      <a:pPr>
                        <a:buNone/>
                      </a:pPr>
                      <a:r>
                        <a:rPr lang="en-IN" dirty="0">
                          <a:latin typeface="Times New Roman" panose="02020603050405020304" pitchFamily="18" charset="0"/>
                          <a:cs typeface="Times New Roman" panose="02020603050405020304" pitchFamily="18" charset="0"/>
                        </a:rPr>
                        <a:t>Financial metrics calculation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Cross-verified with Yahoo 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0619920"/>
                  </a:ext>
                </a:extLst>
              </a:tr>
              <a:tr h="369956">
                <a:tc>
                  <a:txBody>
                    <a:bodyPr/>
                    <a:lstStyle/>
                    <a:p>
                      <a:pPr>
                        <a:buNone/>
                      </a:pPr>
                      <a:r>
                        <a:rPr lang="en-IN" dirty="0">
                          <a:latin typeface="Times New Roman" panose="02020603050405020304" pitchFamily="18" charset="0"/>
                          <a:cs typeface="Times New Roman" panose="02020603050405020304" pitchFamily="18" charset="0"/>
                        </a:rPr>
                        <a:t>CIO output format consistency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String pattern matching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6160961"/>
                  </a:ext>
                </a:extLst>
              </a:tr>
              <a:tr h="647421">
                <a:tc>
                  <a:txBody>
                    <a:bodyPr/>
                    <a:lstStyle/>
                    <a:p>
                      <a:pPr>
                        <a:buNone/>
                      </a:pPr>
                      <a:r>
                        <a:rPr lang="en-IN" dirty="0">
                          <a:latin typeface="Times New Roman" panose="02020603050405020304" pitchFamily="18" charset="0"/>
                          <a:cs typeface="Times New Roman" panose="02020603050405020304" pitchFamily="18" charset="0"/>
                        </a:rPr>
                        <a:t>Recommendation coherence (HITL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Manual expert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9925828"/>
                  </a:ext>
                </a:extLst>
              </a:tr>
              <a:tr h="369956">
                <a:tc>
                  <a:txBody>
                    <a:bodyPr/>
                    <a:lstStyle/>
                    <a:p>
                      <a:pPr>
                        <a:buNone/>
                      </a:pPr>
                      <a:r>
                        <a:rPr lang="en-IN">
                          <a:latin typeface="Times New Roman" panose="02020603050405020304" pitchFamily="18" charset="0"/>
                          <a:cs typeface="Times New Roman" panose="02020603050405020304" pitchFamily="18" charset="0"/>
                        </a:rPr>
                        <a:t>Average end-to-end analysis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5.8 seconds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Timestamp logging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948505"/>
                  </a:ext>
                </a:extLst>
              </a:tr>
              <a:tr h="597003">
                <a:tc>
                  <a:txBody>
                    <a:bodyPr/>
                    <a:lstStyle/>
                    <a:p>
                      <a:pPr>
                        <a:buNone/>
                      </a:pPr>
                      <a:r>
                        <a:rPr lang="en-US">
                          <a:latin typeface="Times New Roman" panose="02020603050405020304" pitchFamily="18" charset="0"/>
                          <a:cs typeface="Times New Roman" panose="02020603050405020304" pitchFamily="18" charset="0"/>
                        </a:rPr>
                        <a:t>PDF report generation success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Automated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9692959"/>
                  </a:ext>
                </a:extLst>
              </a:tr>
            </a:tbl>
          </a:graphicData>
        </a:graphic>
      </p:graphicFrame>
      <p:sp>
        <p:nvSpPr>
          <p:cNvPr id="5" name="TextBox 4">
            <a:extLst>
              <a:ext uri="{FF2B5EF4-FFF2-40B4-BE49-F238E27FC236}">
                <a16:creationId xmlns:a16="http://schemas.microsoft.com/office/drawing/2014/main" id="{B5E175CA-B7EB-F73B-80C4-D8022024A320}"/>
              </a:ext>
            </a:extLst>
          </p:cNvPr>
          <p:cNvSpPr txBox="1"/>
          <p:nvPr/>
        </p:nvSpPr>
        <p:spPr>
          <a:xfrm>
            <a:off x="1327119" y="5114095"/>
            <a:ext cx="9537761" cy="923330"/>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The inclusion of Human-in-the-Loop evaluation confirms that the system not only produces technically correct outputs but also delivers practically useful and trustworthy investment insights for its target users.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350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8EAF8-E53A-3197-6BB9-1EB7F3247BCE}"/>
              </a:ext>
            </a:extLst>
          </p:cNvPr>
          <p:cNvSpPr txBox="1"/>
          <p:nvPr/>
        </p:nvSpPr>
        <p:spPr>
          <a:xfrm>
            <a:off x="429768" y="902923"/>
            <a:ext cx="2508334" cy="523220"/>
          </a:xfrm>
          <a:prstGeom prst="rect">
            <a:avLst/>
          </a:prstGeom>
          <a:noFill/>
        </p:spPr>
        <p:txBody>
          <a:bodyPr wrap="square" rtlCol="0">
            <a:spAutoFit/>
          </a:bodyPr>
          <a:lstStyle/>
          <a:p>
            <a:pPr marL="457200" indent="-457200" algn="ctr">
              <a:buFont typeface="Wingdings" panose="05000000000000000000" pitchFamily="2" charset="2"/>
              <a:buChar char="q"/>
            </a:pPr>
            <a:r>
              <a:rPr lang="en-IN" sz="2800" b="1" dirty="0">
                <a:latin typeface="Times New Roman" pitchFamily="18" charset="0"/>
                <a:cs typeface="Times New Roman" pitchFamily="18" charset="0"/>
              </a:rPr>
              <a:t>Conclusion</a:t>
            </a:r>
          </a:p>
        </p:txBody>
      </p:sp>
      <p:sp>
        <p:nvSpPr>
          <p:cNvPr id="8" name="Rectangle 3">
            <a:extLst>
              <a:ext uri="{FF2B5EF4-FFF2-40B4-BE49-F238E27FC236}">
                <a16:creationId xmlns:a16="http://schemas.microsoft.com/office/drawing/2014/main" id="{2A340B43-585F-DD54-19B3-D64CB22F45C0}"/>
              </a:ext>
            </a:extLst>
          </p:cNvPr>
          <p:cNvSpPr>
            <a:spLocks noChangeArrowheads="1"/>
          </p:cNvSpPr>
          <p:nvPr/>
        </p:nvSpPr>
        <p:spPr bwMode="auto">
          <a:xfrm rot="10800000" flipV="1">
            <a:off x="1040735" y="1558111"/>
            <a:ext cx="1075061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Times New Roman" pitchFamily="18" charset="0"/>
                <a:cs typeface="Times New Roman" pitchFamily="18" charset="0"/>
              </a:rPr>
              <a:t>The AI-driven multi-agent stock analysis system effectively transforms complex financial data into simple, actionable insights. By combining advanced data analysis with intelligent decision-making, it empowers both beginners and professionals to make informed investment choices with confidence. This approach not only saves time but also reduces dependence on deep financial expertise, making stock analysis more accessible, efficient, and practical for real-world use.</a:t>
            </a:r>
          </a:p>
        </p:txBody>
      </p:sp>
      <p:sp>
        <p:nvSpPr>
          <p:cNvPr id="3" name="Google Shape;116;p3">
            <a:extLst>
              <a:ext uri="{FF2B5EF4-FFF2-40B4-BE49-F238E27FC236}">
                <a16:creationId xmlns:a16="http://schemas.microsoft.com/office/drawing/2014/main" id="{803B450A-8DD5-7902-398D-6937BDF4D5DD}"/>
              </a:ext>
            </a:extLst>
          </p:cNvPr>
          <p:cNvSpPr txBox="1"/>
          <p:nvPr/>
        </p:nvSpPr>
        <p:spPr>
          <a:xfrm>
            <a:off x="219456" y="3167410"/>
            <a:ext cx="3896976" cy="523180"/>
          </a:xfrm>
          <a:prstGeom prst="rect">
            <a:avLst/>
          </a:prstGeom>
          <a:noFill/>
          <a:ln>
            <a:noFill/>
          </a:ln>
        </p:spPr>
        <p:txBody>
          <a:bodyPr spcFirstLastPara="1" wrap="square" lIns="91425" tIns="45700" rIns="91425" bIns="45700" anchor="t" anchorCtr="0">
            <a:spAutoFit/>
          </a:bodyPr>
          <a:lstStyle/>
          <a:p>
            <a:pPr marL="457200" lvl="0" indent="-457200" algn="ctr">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Actual Outcome</a:t>
            </a:r>
            <a:endParaRPr sz="28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4" name="Rectangle 3">
            <a:extLst>
              <a:ext uri="{FF2B5EF4-FFF2-40B4-BE49-F238E27FC236}">
                <a16:creationId xmlns:a16="http://schemas.microsoft.com/office/drawing/2014/main" id="{24648E67-BEE7-76E7-D71A-663F23EF4A65}"/>
              </a:ext>
            </a:extLst>
          </p:cNvPr>
          <p:cNvSpPr>
            <a:spLocks noChangeArrowheads="1"/>
          </p:cNvSpPr>
          <p:nvPr/>
        </p:nvSpPr>
        <p:spPr bwMode="auto">
          <a:xfrm>
            <a:off x="1040735" y="3708308"/>
            <a:ext cx="1061618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itchFamily="2" charset="2"/>
              <a:buChar char="Ø"/>
            </a:pPr>
            <a:r>
              <a:rPr lang="en-US" sz="2000" dirty="0">
                <a:latin typeface="Times New Roman" pitchFamily="18" charset="0"/>
                <a:cs typeface="Times New Roman" pitchFamily="18" charset="0"/>
              </a:rPr>
              <a:t>Users can analyze multiple stocks instantly with one click.</a:t>
            </a:r>
          </a:p>
          <a:p>
            <a:pPr marL="342900" indent="-342900">
              <a:buFont typeface="Wingdings" pitchFamily="2" charset="2"/>
              <a:buChar char="Ø"/>
            </a:pPr>
            <a:r>
              <a:rPr lang="en-US" sz="2000" dirty="0">
                <a:latin typeface="Times New Roman" pitchFamily="18" charset="0"/>
                <a:cs typeface="Times New Roman" pitchFamily="18" charset="0"/>
              </a:rPr>
              <a:t>Simplified understanding of complex financial data.</a:t>
            </a:r>
          </a:p>
          <a:p>
            <a:pPr marL="342900" indent="-342900">
              <a:buFont typeface="Wingdings" pitchFamily="2" charset="2"/>
              <a:buChar char="Ø"/>
            </a:pPr>
            <a:r>
              <a:rPr lang="en-US" sz="2000" dirty="0">
                <a:latin typeface="Times New Roman" pitchFamily="18" charset="0"/>
                <a:cs typeface="Times New Roman" pitchFamily="18" charset="0"/>
              </a:rPr>
              <a:t>AI-generated insights for better decision making.</a:t>
            </a:r>
          </a:p>
          <a:p>
            <a:pPr marL="342900" indent="-342900">
              <a:buFont typeface="Wingdings" pitchFamily="2" charset="2"/>
              <a:buChar char="Ø"/>
            </a:pPr>
            <a:r>
              <a:rPr lang="en-US" sz="2000" dirty="0">
                <a:latin typeface="Times New Roman" pitchFamily="18" charset="0"/>
                <a:cs typeface="Times New Roman" pitchFamily="18" charset="0"/>
              </a:rPr>
              <a:t>Time-saving solution for working professionals (9–5 users).</a:t>
            </a:r>
          </a:p>
          <a:p>
            <a:pPr marL="342900" indent="-342900">
              <a:buFont typeface="Wingdings" pitchFamily="2" charset="2"/>
              <a:buChar char="Ø"/>
            </a:pPr>
            <a:r>
              <a:rPr lang="en-US" sz="2000" dirty="0">
                <a:latin typeface="Times New Roman" pitchFamily="18" charset="0"/>
                <a:cs typeface="Times New Roman" pitchFamily="18" charset="0"/>
              </a:rPr>
              <a:t>Reduced dependency on expert knowledge or external advice.</a:t>
            </a:r>
          </a:p>
          <a:p>
            <a:pPr marL="342900" indent="-342900">
              <a:buFont typeface="Wingdings" pitchFamily="2" charset="2"/>
              <a:buChar char="Ø"/>
            </a:pPr>
            <a:r>
              <a:rPr lang="en-US" sz="2000" dirty="0">
                <a:latin typeface="Times New Roman" pitchFamily="18" charset="0"/>
                <a:cs typeface="Times New Roman" pitchFamily="18" charset="0"/>
              </a:rPr>
              <a:t>Clear comparison between different stocks.</a:t>
            </a:r>
          </a:p>
          <a:p>
            <a:pPr marL="342900" indent="-342900">
              <a:buFont typeface="Wingdings" pitchFamily="2" charset="2"/>
              <a:buChar char="Ø"/>
            </a:pPr>
            <a:r>
              <a:rPr lang="en-US" sz="2000" dirty="0">
                <a:latin typeface="Times New Roman" pitchFamily="18" charset="0"/>
                <a:cs typeface="Times New Roman" pitchFamily="18" charset="0"/>
              </a:rPr>
              <a:t>Downloadable PDF report for detailed analysis.</a:t>
            </a:r>
          </a:p>
        </p:txBody>
      </p:sp>
    </p:spTree>
    <p:extLst>
      <p:ext uri="{BB962C8B-B14F-4D97-AF65-F5344CB8AC3E}">
        <p14:creationId xmlns:p14="http://schemas.microsoft.com/office/powerpoint/2010/main" val="1379939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B4D9A8-F2CC-ADFE-F210-0F58BCCD5D94}"/>
              </a:ext>
            </a:extLst>
          </p:cNvPr>
          <p:cNvSpPr txBox="1"/>
          <p:nvPr/>
        </p:nvSpPr>
        <p:spPr>
          <a:xfrm>
            <a:off x="0" y="797516"/>
            <a:ext cx="3852406" cy="523220"/>
          </a:xfrm>
          <a:prstGeom prst="rect">
            <a:avLst/>
          </a:prstGeom>
          <a:noFill/>
        </p:spPr>
        <p:txBody>
          <a:bodyPr wrap="square" rtlCol="0">
            <a:spAutoFit/>
          </a:bodyPr>
          <a:lstStyle/>
          <a:p>
            <a:pPr marL="457200" indent="-457200" algn="ctr">
              <a:buFont typeface="Wingdings" panose="05000000000000000000" pitchFamily="2" charset="2"/>
              <a:buChar char="q"/>
            </a:pPr>
            <a:r>
              <a:rPr lang="en-IN" sz="2800" b="1" dirty="0">
                <a:latin typeface="Times New Roman" pitchFamily="18" charset="0"/>
                <a:cs typeface="Times New Roman" pitchFamily="18" charset="0"/>
              </a:rPr>
              <a:t>Future Scope</a:t>
            </a:r>
          </a:p>
        </p:txBody>
      </p:sp>
      <p:sp>
        <p:nvSpPr>
          <p:cNvPr id="3" name="TextBox 2">
            <a:extLst>
              <a:ext uri="{FF2B5EF4-FFF2-40B4-BE49-F238E27FC236}">
                <a16:creationId xmlns:a16="http://schemas.microsoft.com/office/drawing/2014/main" id="{52CD3B82-F9DA-4CD3-E8D2-A7F83BA41B69}"/>
              </a:ext>
            </a:extLst>
          </p:cNvPr>
          <p:cNvSpPr txBox="1"/>
          <p:nvPr/>
        </p:nvSpPr>
        <p:spPr>
          <a:xfrm>
            <a:off x="974035" y="1664363"/>
            <a:ext cx="10724322" cy="1938992"/>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Future Enhancements</a:t>
            </a:r>
          </a:p>
          <a:p>
            <a:pPr marL="285750" indent="-285750">
              <a:lnSpc>
                <a:spcPct val="150000"/>
              </a:lnSpc>
              <a:buFont typeface="Arial" panose="020B0604020202020204" pitchFamily="34" charset="0"/>
              <a:buChar char="•"/>
            </a:pPr>
            <a:r>
              <a:rPr lang="en-US" sz="2000" dirty="0">
                <a:latin typeface="Times New Roman" pitchFamily="18" charset="0"/>
                <a:cs typeface="Times New Roman" pitchFamily="18" charset="0"/>
              </a:rPr>
              <a:t>Addition of more advanced AI agents (e.g., news sentiment analysis, technical indicators).</a:t>
            </a:r>
          </a:p>
          <a:p>
            <a:pPr marL="285750" indent="-285750">
              <a:lnSpc>
                <a:spcPct val="150000"/>
              </a:lnSpc>
              <a:buFont typeface="Arial" panose="020B0604020202020204" pitchFamily="34" charset="0"/>
              <a:buChar char="•"/>
            </a:pPr>
            <a:r>
              <a:rPr lang="en-US" sz="2000" dirty="0">
                <a:latin typeface="Times New Roman" pitchFamily="18" charset="0"/>
                <a:cs typeface="Times New Roman" pitchFamily="18" charset="0"/>
              </a:rPr>
              <a:t>Improved AI accuracy using more financial data and models.</a:t>
            </a: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594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0C07-1162-2DFC-FC5B-C0CF38BD08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B3043C-59CB-4618-F3CB-B03D1BA8C392}"/>
              </a:ext>
            </a:extLst>
          </p:cNvPr>
          <p:cNvSpPr txBox="1"/>
          <p:nvPr/>
        </p:nvSpPr>
        <p:spPr>
          <a:xfrm>
            <a:off x="0" y="797516"/>
            <a:ext cx="3852406" cy="523220"/>
          </a:xfrm>
          <a:prstGeom prst="rect">
            <a:avLst/>
          </a:prstGeom>
          <a:noFill/>
        </p:spPr>
        <p:txBody>
          <a:bodyPr wrap="square" rtlCol="0">
            <a:spAutoFit/>
          </a:bodyPr>
          <a:lstStyle/>
          <a:p>
            <a:pPr marL="457200" indent="-457200" algn="ctr">
              <a:buFont typeface="Wingdings" panose="05000000000000000000" pitchFamily="2" charset="2"/>
              <a:buChar char="q"/>
            </a:pPr>
            <a:r>
              <a:rPr lang="en-IN" sz="2800" b="1" dirty="0" err="1">
                <a:latin typeface="Times New Roman" pitchFamily="18" charset="0"/>
                <a:cs typeface="Times New Roman" pitchFamily="18" charset="0"/>
              </a:rPr>
              <a:t>Referance</a:t>
            </a:r>
            <a:r>
              <a:rPr lang="en-IN" sz="2800" b="1" dirty="0">
                <a:latin typeface="Times New Roman" pitchFamily="18" charset="0"/>
                <a:cs typeface="Times New Roman" pitchFamily="18" charset="0"/>
              </a:rPr>
              <a:t>:</a:t>
            </a:r>
          </a:p>
        </p:txBody>
      </p:sp>
      <p:sp>
        <p:nvSpPr>
          <p:cNvPr id="6" name="Rectangle 3">
            <a:extLst>
              <a:ext uri="{FF2B5EF4-FFF2-40B4-BE49-F238E27FC236}">
                <a16:creationId xmlns:a16="http://schemas.microsoft.com/office/drawing/2014/main" id="{4A259E84-8C54-3277-9B29-F2610BFD82B6}"/>
              </a:ext>
            </a:extLst>
          </p:cNvPr>
          <p:cNvSpPr>
            <a:spLocks noChangeArrowheads="1"/>
          </p:cNvSpPr>
          <p:nvPr/>
        </p:nvSpPr>
        <p:spPr bwMode="auto">
          <a:xfrm rot="10800000" flipV="1">
            <a:off x="815865" y="2228120"/>
            <a:ext cx="10953094"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dirty="0">
                <a:latin typeface="Times New Roman" panose="02020603050405020304" pitchFamily="18" charset="0"/>
                <a:cs typeface="Times New Roman" panose="02020603050405020304" pitchFamily="18" charset="0"/>
              </a:rPr>
              <a:t>[1] Y. Yang, X. Liu, et al., “</a:t>
            </a:r>
            <a:r>
              <a:rPr lang="en-IN" sz="1600" dirty="0" err="1">
                <a:latin typeface="Times New Roman" panose="02020603050405020304" pitchFamily="18" charset="0"/>
                <a:cs typeface="Times New Roman" panose="02020603050405020304" pitchFamily="18" charset="0"/>
              </a:rPr>
              <a:t>FinGPT</a:t>
            </a:r>
            <a:r>
              <a:rPr lang="en-IN" sz="1600" dirty="0">
                <a:latin typeface="Times New Roman" panose="02020603050405020304" pitchFamily="18" charset="0"/>
                <a:cs typeface="Times New Roman" panose="02020603050405020304" pitchFamily="18" charset="0"/>
              </a:rPr>
              <a:t>: Open-Source Financial Large Language Models,”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arXiv:2306.06031, 2023. [Online]. Available: </a:t>
            </a:r>
            <a:r>
              <a:rPr lang="en-IN" sz="1600" dirty="0">
                <a:latin typeface="Times New Roman" panose="02020603050405020304" pitchFamily="18" charset="0"/>
                <a:cs typeface="Times New Roman" panose="02020603050405020304" pitchFamily="18" charset="0"/>
                <a:hlinkClick r:id="rId2"/>
              </a:rPr>
              <a:t>https://arxiv.org/abs/2306.06031</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[2] X. Liu, Z. Yang, J. Chen, et al., “</a:t>
            </a:r>
            <a:r>
              <a:rPr lang="en-IN" sz="1600" dirty="0" err="1">
                <a:latin typeface="Times New Roman" panose="02020603050405020304" pitchFamily="18" charset="0"/>
                <a:cs typeface="Times New Roman" panose="02020603050405020304" pitchFamily="18" charset="0"/>
              </a:rPr>
              <a:t>FinRL</a:t>
            </a:r>
            <a:r>
              <a:rPr lang="en-IN" sz="1600" dirty="0">
                <a:latin typeface="Times New Roman" panose="02020603050405020304" pitchFamily="18" charset="0"/>
                <a:cs typeface="Times New Roman" panose="02020603050405020304" pitchFamily="18" charset="0"/>
              </a:rPr>
              <a:t>: Deep Reinforcement Learning for Automated Stock Trading,”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arXiv:2011.09607, 2020. [Online]. Available: </a:t>
            </a:r>
            <a:r>
              <a:rPr lang="en-IN" sz="1600" dirty="0">
                <a:latin typeface="Times New Roman" panose="02020603050405020304" pitchFamily="18" charset="0"/>
                <a:cs typeface="Times New Roman" panose="02020603050405020304" pitchFamily="18" charset="0"/>
                <a:hlinkClick r:id="rId3"/>
              </a:rPr>
              <a:t>https://arxiv.org/abs/2011.09607</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Z. Jiang, D. Xu, and J. Liang, “A Multi-Agent Reinforcement Learning Framework for Portfolio Management,”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arXiv:2106.08437, 2021. [Online]. Available: </a:t>
            </a:r>
            <a:r>
              <a:rPr lang="en-IN" sz="1600" dirty="0">
                <a:latin typeface="Times New Roman" panose="02020603050405020304" pitchFamily="18" charset="0"/>
                <a:cs typeface="Times New Roman" panose="02020603050405020304" pitchFamily="18" charset="0"/>
                <a:hlinkClick r:id="rId4"/>
              </a:rPr>
              <a:t>https://arxiv.org/abs/2311.10723</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H. Zhang, Y. Zhao, et al., “Large Language Models in Finance: A Survey,”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arXiv:2311.10723, 2023. [Online]. Available: </a:t>
            </a:r>
            <a:r>
              <a:rPr lang="en-IN" sz="1600" dirty="0">
                <a:latin typeface="Times New Roman" panose="02020603050405020304" pitchFamily="18" charset="0"/>
                <a:cs typeface="Times New Roman" panose="02020603050405020304" pitchFamily="18" charset="0"/>
                <a:hlinkClick r:id="rId5" action="ppaction://hlinksldjump"/>
              </a:rPr>
              <a:t>https://arxiv.org/abs/2311.10723</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498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3">
            <a:extLst>
              <a:ext uri="{FF2B5EF4-FFF2-40B4-BE49-F238E27FC236}">
                <a16:creationId xmlns:a16="http://schemas.microsoft.com/office/drawing/2014/main" id="{5377BEB0-3CFB-DD43-4080-37680C64C40B}"/>
              </a:ext>
            </a:extLst>
          </p:cNvPr>
          <p:cNvSpPr txBox="1"/>
          <p:nvPr/>
        </p:nvSpPr>
        <p:spPr>
          <a:xfrm>
            <a:off x="271960" y="2988506"/>
            <a:ext cx="10780996" cy="1015622"/>
          </a:xfrm>
          <a:prstGeom prst="rect">
            <a:avLst/>
          </a:prstGeom>
          <a:noFill/>
          <a:ln>
            <a:noFill/>
          </a:ln>
        </p:spPr>
        <p:txBody>
          <a:bodyPr spcFirstLastPara="1" wrap="square" lIns="91425" tIns="45700" rIns="91425" bIns="45700" anchor="t" anchorCtr="0">
            <a:spAutoFit/>
          </a:bodyPr>
          <a:lstStyle/>
          <a:p>
            <a:pPr lvl="0" algn="ctr"/>
            <a:r>
              <a:rPr lang="en-US" sz="6000" b="1" dirty="0">
                <a:latin typeface="Times New Roman" panose="02020603050405020304" pitchFamily="18" charset="0"/>
                <a:cs typeface="Times New Roman" panose="02020603050405020304" pitchFamily="18" charset="0"/>
              </a:rPr>
              <a:t>Thank you</a:t>
            </a:r>
            <a:endParaRPr sz="6000" b="1" i="0"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45944135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TM03457464[[fn=Dividend]]</Template>
  <TotalTime>3412</TotalTime>
  <Words>2391</Words>
  <Application>Microsoft Office PowerPoint</Application>
  <PresentationFormat>Widescreen</PresentationFormat>
  <Paragraphs>213</Paragraphs>
  <Slides>25</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Gill Sans</vt:lpstr>
      <vt:lpstr>Gill Sans MT</vt:lpstr>
      <vt:lpstr>Noto Sans Symbols</vt:lpstr>
      <vt:lpstr>Times New Roman</vt:lpstr>
      <vt:lpstr>Wingdings</vt:lpstr>
      <vt:lpstr>Wingdings 2</vt:lpstr>
      <vt:lpstr>Dividend</vt:lpstr>
      <vt:lpstr>Agentic AI-Driven Multi-Agent Framework for Financial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AI-Driven Multi-Agent Framework for Financial Data Analysis</dc:title>
  <dc:creator>Soham Wadale</dc:creator>
  <cp:lastModifiedBy>sanket parjane</cp:lastModifiedBy>
  <cp:revision>39</cp:revision>
  <dcterms:created xsi:type="dcterms:W3CDTF">2024-09-07T17:07:45Z</dcterms:created>
  <dcterms:modified xsi:type="dcterms:W3CDTF">2026-04-09T07:55:57Z</dcterms:modified>
</cp:coreProperties>
</file>